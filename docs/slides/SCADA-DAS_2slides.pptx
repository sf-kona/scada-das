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7" r:id="rId3"/>
    <p:sldId id="288" r:id="rId4"/>
    <p:sldId id="258" r:id="rId5"/>
    <p:sldId id="257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47"/>
    <p:restoredTop sz="94610"/>
  </p:normalViewPr>
  <p:slideViewPr>
    <p:cSldViewPr snapToGrid="0" snapToObjects="1">
      <p:cViewPr>
        <p:scale>
          <a:sx n="93" d="100"/>
          <a:sy n="93" d="100"/>
        </p:scale>
        <p:origin x="20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00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2d7c9874b_3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g3e2d7c9874b_3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2d7c9874b_3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g3e2d7c9874b_3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EEE7-7CA1-074B-C577-EC95F6B8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0747-AD15-819D-53DF-CC3C0AE9D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089C7-A49F-7043-E18A-C11E14306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3F054-30AA-046D-5367-1CEAAEDAA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20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2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91695" cy="4572"/>
          </a:xfrm>
          <a:prstGeom prst="rect">
            <a:avLst/>
          </a:prstGeom>
          <a:solidFill>
            <a:srgbClr val="3A4A65"/>
          </a:solidFill>
          <a:ln w="1270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Text 2"/>
          <p:cNvSpPr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SCADA-DAS · 김완택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DAS · DATA ACQUISITION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이질적인 6공정 라인을 단일 SCADA로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</a:t>
            </a:r>
            <a:r>
              <a:rPr lang="en-US" sz="1200" b="1" kern="0" spc="8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▸    </a:t>
            </a: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GATEWAY</a:t>
            </a:r>
            <a:r>
              <a:rPr lang="en-US" sz="1200" b="1" kern="0" spc="8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▸    </a:t>
            </a: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383280" cy="292608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383280" cy="292608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  ·  6공정 18대 + 환경 18센서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31343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2313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산화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587752"/>
            <a:ext cx="822960" cy="182880"/>
          </a:xfrm>
          <a:prstGeom prst="rect">
            <a:avLst/>
          </a:prstGeom>
          <a:solidFill>
            <a:srgbClr val="F77F00">
              <a:alpha val="25000"/>
            </a:srgbClr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/>
          <p:nvPr/>
        </p:nvSpPr>
        <p:spPr>
          <a:xfrm>
            <a:off x="2926080" y="2587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박막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0" y="2862072"/>
            <a:ext cx="822960" cy="182880"/>
          </a:xfrm>
          <a:prstGeom prst="rect">
            <a:avLst/>
          </a:prstGeom>
          <a:solidFill>
            <a:srgbClr val="06D6A0">
              <a:alpha val="25000"/>
            </a:srgbClr>
          </a:solidFill>
          <a:ln w="952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/>
          <p:nvPr/>
        </p:nvSpPr>
        <p:spPr>
          <a:xfrm>
            <a:off x="2926080" y="2862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식각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3136392"/>
            <a:ext cx="822960" cy="182880"/>
          </a:xfrm>
          <a:prstGeom prst="rect">
            <a:avLst/>
          </a:prstGeom>
          <a:solidFill>
            <a:srgbClr val="06D6A0">
              <a:alpha val="25000"/>
            </a:srgbClr>
          </a:solidFill>
          <a:ln w="952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1"/>
          <p:cNvSpPr/>
          <p:nvPr/>
        </p:nvSpPr>
        <p:spPr>
          <a:xfrm>
            <a:off x="2926080" y="3136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SPTT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341071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24"/>
          <p:cNvSpPr/>
          <p:nvPr/>
        </p:nvSpPr>
        <p:spPr>
          <a:xfrm>
            <a:off x="2926080" y="34107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657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368503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/>
          <p:cNvSpPr/>
          <p:nvPr/>
        </p:nvSpPr>
        <p:spPr>
          <a:xfrm>
            <a:off x="2926080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014216"/>
            <a:ext cx="3017520" cy="0"/>
          </a:xfrm>
          <a:prstGeom prst="line">
            <a:avLst/>
          </a:prstGeom>
          <a:noFill/>
          <a:ln w="9525">
            <a:solidFill>
              <a:srgbClr val="3A4A65"/>
            </a:solidFill>
            <a:prstDash val="dash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/>
          <p:cNvSpPr/>
          <p:nvPr/>
        </p:nvSpPr>
        <p:spPr>
          <a:xfrm>
            <a:off x="731520" y="4069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BMS 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센서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4096512"/>
            <a:ext cx="822960" cy="182880"/>
          </a:xfrm>
          <a:prstGeom prst="rect">
            <a:avLst/>
          </a:prstGeom>
          <a:solidFill>
            <a:srgbClr val="F77F00">
              <a:alpha val="25000"/>
            </a:srgbClr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/>
          <p:nvPr/>
        </p:nvSpPr>
        <p:spPr>
          <a:xfrm>
            <a:off x="292608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1874520"/>
            <a:ext cx="3383280" cy="2926080"/>
          </a:xfrm>
          <a:prstGeom prst="rect">
            <a:avLst/>
          </a:prstGeom>
          <a:solidFill>
            <a:srgbClr val="2A3A55"/>
          </a:solidFill>
          <a:ln w="1587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3"/>
          <p:cNvSpPr/>
          <p:nvPr/>
        </p:nvSpPr>
        <p:spPr>
          <a:xfrm>
            <a:off x="4434840" y="1874520"/>
            <a:ext cx="3383280" cy="2926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/>
          <p:nvPr/>
        </p:nvSpPr>
        <p:spPr>
          <a:xfrm>
            <a:off x="44348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GATEWAY  ·  Node-RED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3484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Node-RED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4348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315 nodes  ·  9 sections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8"/>
          <p:cNvSpPr/>
          <p:nvPr/>
        </p:nvSpPr>
        <p:spPr>
          <a:xfrm>
            <a:off x="46634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Acquire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12464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40"/>
          <p:cNvSpPr/>
          <p:nvPr/>
        </p:nvSpPr>
        <p:spPr>
          <a:xfrm>
            <a:off x="466344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Transform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4041648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42"/>
          <p:cNvSpPr/>
          <p:nvPr/>
        </p:nvSpPr>
        <p:spPr>
          <a:xfrm>
            <a:off x="466344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Persist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370832"/>
            <a:ext cx="2926080" cy="274320"/>
          </a:xfrm>
          <a:prstGeom prst="rect">
            <a:avLst/>
          </a:prstGeom>
          <a:solidFill>
            <a:srgbClr val="F77F00"/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Text 44"/>
          <p:cNvSpPr/>
          <p:nvPr/>
        </p:nvSpPr>
        <p:spPr>
          <a:xfrm>
            <a:off x="466344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알람</a:t>
            </a:r>
            <a:r>
              <a:rPr lang="en-US" sz="900" i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Notify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1040" y="1874520"/>
            <a:ext cx="3383280" cy="292608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Shape 46"/>
          <p:cNvSpPr/>
          <p:nvPr/>
        </p:nvSpPr>
        <p:spPr>
          <a:xfrm>
            <a:off x="8321040" y="1874520"/>
            <a:ext cx="3383280" cy="292608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47"/>
          <p:cNvSpPr/>
          <p:nvPr/>
        </p:nvSpPr>
        <p:spPr>
          <a:xfrm>
            <a:off x="83210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STORE  ·  Historian + Real-time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95360" y="2377440"/>
            <a:ext cx="2834640" cy="1078992"/>
          </a:xfrm>
          <a:prstGeom prst="rect">
            <a:avLst/>
          </a:prstGeom>
          <a:solidFill>
            <a:srgbClr val="0D1B2A"/>
          </a:solidFill>
          <a:ln w="1587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 49"/>
          <p:cNvSpPr/>
          <p:nvPr/>
        </p:nvSpPr>
        <p:spPr>
          <a:xfrm>
            <a:off x="859536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+ 마스터 + 이벤트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tables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8595360" y="3593592"/>
            <a:ext cx="2834640" cy="1078992"/>
          </a:xfrm>
          <a:prstGeom prst="rect">
            <a:avLst/>
          </a:prstGeom>
          <a:solidFill>
            <a:srgbClr val="0D1B2A"/>
          </a:solidFill>
          <a:ln w="1587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Text 51"/>
          <p:cNvSpPr/>
          <p:nvPr/>
        </p:nvSpPr>
        <p:spPr>
          <a:xfrm>
            <a:off x="8595360" y="363931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알람 버스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smartfactory/alarms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3977640" y="3337560"/>
            <a:ext cx="411480" cy="0"/>
          </a:xfrm>
          <a:prstGeom prst="line">
            <a:avLst/>
          </a:prstGeom>
          <a:noFill/>
          <a:ln w="31750">
            <a:solidFill>
              <a:srgbClr val="8DA0BD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53"/>
          <p:cNvSpPr/>
          <p:nvPr/>
        </p:nvSpPr>
        <p:spPr>
          <a:xfrm>
            <a:off x="7863840" y="3337560"/>
            <a:ext cx="411480" cy="0"/>
          </a:xfrm>
          <a:prstGeom prst="line">
            <a:avLst/>
          </a:prstGeom>
          <a:noFill/>
          <a:ln w="31750">
            <a:solidFill>
              <a:srgbClr val="8DA0BD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Shape 54"/>
          <p:cNvSpPr/>
          <p:nvPr/>
        </p:nvSpPr>
        <p:spPr>
          <a:xfrm>
            <a:off x="548640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55"/>
          <p:cNvSpPr/>
          <p:nvPr/>
        </p:nvSpPr>
        <p:spPr>
          <a:xfrm>
            <a:off x="548640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400" dirty="0"/>
          </a:p>
        </p:txBody>
      </p:sp>
      <p:sp>
        <p:nvSpPr>
          <p:cNvPr id="58" name="Text 56"/>
          <p:cNvSpPr/>
          <p:nvPr/>
        </p:nvSpPr>
        <p:spPr>
          <a:xfrm>
            <a:off x="548640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Modbus·OPC UA·MQTT·BMS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36544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1" name="Text 59"/>
          <p:cNvSpPr/>
          <p:nvPr/>
        </p:nvSpPr>
        <p:spPr>
          <a:xfrm>
            <a:off x="3436544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5400" dirty="0"/>
          </a:p>
        </p:txBody>
      </p:sp>
      <p:sp>
        <p:nvSpPr>
          <p:cNvPr id="62" name="Text 60"/>
          <p:cNvSpPr/>
          <p:nvPr/>
        </p:nvSpPr>
        <p:spPr>
          <a:xfrm>
            <a:off x="3436544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36544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18 + 센서 18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24448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5" name="Text 63"/>
          <p:cNvSpPr/>
          <p:nvPr/>
        </p:nvSpPr>
        <p:spPr>
          <a:xfrm>
            <a:off x="6324448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</a:t>
            </a:r>
            <a:r>
              <a:rPr lang="en-US" sz="2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5400" dirty="0"/>
          </a:p>
        </p:txBody>
      </p:sp>
      <p:sp>
        <p:nvSpPr>
          <p:cNvPr id="66" name="Text 64"/>
          <p:cNvSpPr/>
          <p:nvPr/>
        </p:nvSpPr>
        <p:spPr>
          <a:xfrm>
            <a:off x="6324448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태그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24448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EQP + 93 ENV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212351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9" name="Text 67"/>
          <p:cNvSpPr/>
          <p:nvPr/>
        </p:nvSpPr>
        <p:spPr>
          <a:xfrm>
            <a:off x="9212351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1·5·30</a:t>
            </a:r>
            <a:r>
              <a:rPr lang="en-US" sz="2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5400" dirty="0"/>
          </a:p>
        </p:txBody>
      </p:sp>
      <p:sp>
        <p:nvSpPr>
          <p:cNvPr id="70" name="Text 68"/>
          <p:cNvSpPr/>
          <p:nvPr/>
        </p:nvSpPr>
        <p:spPr>
          <a:xfrm>
            <a:off x="9212351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주기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212351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 / slow / particle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 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4개를 다룬 건 자랑이 아니라 </a:t>
            </a:r>
            <a:r>
              <a:rPr lang="en-US" sz="1300" b="1" i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현실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  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2d7c9874b_3_131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0" name="Google Shape;600;g3e2d7c9874b_3_131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601" name="Google Shape;601;g3e2d7c9874b_3_131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2" name="Google Shape;602;g3e2d7c9874b_3_131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ko-KR" sz="2800" b="1" i="0" u="none" strike="noStrike" cap="non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</a:t>
              </a: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e2d7c9874b_3_131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1" i="0" u="none" strike="noStrike" cap="none">
                  <a:solidFill>
                    <a:srgbClr val="3378C8"/>
                  </a:solidFill>
                </a:rPr>
                <a:t>0</a:t>
              </a:r>
              <a:r>
                <a:rPr lang="ko-KR" sz="5400" b="1">
                  <a:solidFill>
                    <a:srgbClr val="3378C8"/>
                  </a:solidFill>
                </a:rPr>
                <a:t>3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g3e2d7c9874b_3_13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2d7c9874b_3_131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2d7c9874b_3_131"/>
          <p:cNvSpPr txBox="1"/>
          <p:nvPr/>
        </p:nvSpPr>
        <p:spPr>
          <a:xfrm>
            <a:off x="1469531" y="95794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DAS</a:t>
            </a: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9A191F-68EF-8CC6-DF99-3826884FC1A8}"/>
              </a:ext>
            </a:extLst>
          </p:cNvPr>
          <p:cNvSpPr/>
          <p:nvPr/>
        </p:nvSpPr>
        <p:spPr>
          <a:xfrm>
            <a:off x="418596" y="2169179"/>
            <a:ext cx="3498137" cy="171699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20434AAB-69B4-F049-F3DD-68FFE39D514E}"/>
              </a:ext>
            </a:extLst>
          </p:cNvPr>
          <p:cNvSpPr/>
          <p:nvPr/>
        </p:nvSpPr>
        <p:spPr>
          <a:xfrm>
            <a:off x="658676" y="220471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산화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FURN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95E1CD03-7D81-09EF-01E1-DF7482A978CB}"/>
              </a:ext>
            </a:extLst>
          </p:cNvPr>
          <p:cNvSpPr/>
          <p:nvPr/>
        </p:nvSpPr>
        <p:spPr>
          <a:xfrm>
            <a:off x="2625525" y="3055078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9EFC77FB-3E72-B28C-6A3F-E9DEE4F1ACBD}"/>
              </a:ext>
            </a:extLst>
          </p:cNvPr>
          <p:cNvSpPr/>
          <p:nvPr/>
        </p:nvSpPr>
        <p:spPr>
          <a:xfrm>
            <a:off x="658676" y="2483610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박막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89CC3CF0-3B1E-F194-E0B0-6D07DF45F517}"/>
              </a:ext>
            </a:extLst>
          </p:cNvPr>
          <p:cNvSpPr/>
          <p:nvPr/>
        </p:nvSpPr>
        <p:spPr>
          <a:xfrm>
            <a:off x="2625525" y="2232150"/>
            <a:ext cx="1016431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64A66C9D-F377-BF44-B4C2-DA29CA7D3F6C}"/>
              </a:ext>
            </a:extLst>
          </p:cNvPr>
          <p:cNvSpPr/>
          <p:nvPr/>
        </p:nvSpPr>
        <p:spPr>
          <a:xfrm>
            <a:off x="658676" y="275335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식각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ETCH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EF7C7DCB-9D66-212E-CE72-62375B1BB438}"/>
              </a:ext>
            </a:extLst>
          </p:cNvPr>
          <p:cNvSpPr/>
          <p:nvPr/>
        </p:nvSpPr>
        <p:spPr>
          <a:xfrm>
            <a:off x="2625525" y="2780790"/>
            <a:ext cx="1016431" cy="18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9BFF886D-0A1E-34B4-0636-C97515F10E27}"/>
              </a:ext>
            </a:extLst>
          </p:cNvPr>
          <p:cNvSpPr/>
          <p:nvPr/>
        </p:nvSpPr>
        <p:spPr>
          <a:xfrm>
            <a:off x="658676" y="302767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altLang="ko-Kore-KR" sz="1100" b="1" dirty="0" err="1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</a:t>
            </a:r>
            <a:r>
              <a:rPr lang="en-US" altLang="ko-Kore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ore-KR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BC6F285C-6EA6-FD97-E0A2-AB0EC20584DC}"/>
              </a:ext>
            </a:extLst>
          </p:cNvPr>
          <p:cNvSpPr/>
          <p:nvPr/>
        </p:nvSpPr>
        <p:spPr>
          <a:xfrm>
            <a:off x="2625525" y="2511042"/>
            <a:ext cx="1016431" cy="18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BF781930-CC01-722D-4A3D-2AB4BD503449}"/>
              </a:ext>
            </a:extLst>
          </p:cNvPr>
          <p:cNvSpPr/>
          <p:nvPr/>
        </p:nvSpPr>
        <p:spPr>
          <a:xfrm>
            <a:off x="658676" y="330199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배선 </a:t>
            </a:r>
            <a:r>
              <a:rPr lang="en-US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SPTT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222B86EF-140C-3FD0-2781-F2089F4DD10A}"/>
              </a:ext>
            </a:extLst>
          </p:cNvPr>
          <p:cNvSpPr/>
          <p:nvPr/>
        </p:nvSpPr>
        <p:spPr>
          <a:xfrm>
            <a:off x="658676" y="3576318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검사 </a:t>
            </a:r>
            <a:r>
              <a:rPr lang="en-US" sz="1100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PROBE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B4FDCF0-81B6-AEF2-7C88-9C20E5032732}"/>
              </a:ext>
            </a:extLst>
          </p:cNvPr>
          <p:cNvSpPr/>
          <p:nvPr/>
        </p:nvSpPr>
        <p:spPr>
          <a:xfrm>
            <a:off x="2625525" y="3329430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C05E72-B1BF-3584-C0F4-BC201ED910C2}"/>
              </a:ext>
            </a:extLst>
          </p:cNvPr>
          <p:cNvSpPr/>
          <p:nvPr/>
        </p:nvSpPr>
        <p:spPr>
          <a:xfrm>
            <a:off x="2625525" y="3603750"/>
            <a:ext cx="1016431" cy="182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E43F80-57F0-1A00-4F83-BAB3D2DB85D3}"/>
              </a:ext>
            </a:extLst>
          </p:cNvPr>
          <p:cNvSpPr/>
          <p:nvPr/>
        </p:nvSpPr>
        <p:spPr>
          <a:xfrm>
            <a:off x="418596" y="1842280"/>
            <a:ext cx="3498137" cy="328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600" dirty="0">
                <a:solidFill>
                  <a:sysClr val="windowText" lastClr="000000"/>
                </a:solidFill>
              </a:rPr>
              <a:t>공정</a:t>
            </a:r>
            <a:r>
              <a:rPr kumimoji="1" lang="ko-KR" altLang="en-US" sz="1600" dirty="0">
                <a:solidFill>
                  <a:sysClr val="windowText" lastClr="000000"/>
                </a:solidFill>
              </a:rPr>
              <a:t> 설비 통신 프로토콜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0401B6-88F3-E2EF-AAAE-6273CAD5C5B7}"/>
              </a:ext>
            </a:extLst>
          </p:cNvPr>
          <p:cNvSpPr/>
          <p:nvPr/>
        </p:nvSpPr>
        <p:spPr>
          <a:xfrm>
            <a:off x="418596" y="4282807"/>
            <a:ext cx="3498137" cy="3281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ore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E15E8D3-C93B-9C1F-29D3-2113EE89562D}"/>
              </a:ext>
            </a:extLst>
          </p:cNvPr>
          <p:cNvSpPr/>
          <p:nvPr/>
        </p:nvSpPr>
        <p:spPr>
          <a:xfrm>
            <a:off x="418596" y="3955908"/>
            <a:ext cx="3498137" cy="328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ysClr val="windowText" lastClr="000000"/>
                </a:solidFill>
              </a:rPr>
              <a:t>환경 </a:t>
            </a:r>
            <a:r>
              <a:rPr kumimoji="1" lang="en-US" altLang="ko-KR" sz="1600" dirty="0">
                <a:solidFill>
                  <a:sysClr val="windowText" lastClr="000000"/>
                </a:solidFill>
              </a:rPr>
              <a:t>BMS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EE4A032-672D-7644-3AED-2D6531EC42E9}"/>
              </a:ext>
            </a:extLst>
          </p:cNvPr>
          <p:cNvSpPr/>
          <p:nvPr/>
        </p:nvSpPr>
        <p:spPr>
          <a:xfrm>
            <a:off x="2625525" y="4353788"/>
            <a:ext cx="1016431" cy="182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568349-775E-2B00-BA2A-04BE46CEAF85}"/>
              </a:ext>
            </a:extLst>
          </p:cNvPr>
          <p:cNvSpPr/>
          <p:nvPr/>
        </p:nvSpPr>
        <p:spPr>
          <a:xfrm>
            <a:off x="4346933" y="2169179"/>
            <a:ext cx="3498137" cy="23674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A26F19-96F8-053F-AC18-7434B8273931}"/>
              </a:ext>
            </a:extLst>
          </p:cNvPr>
          <p:cNvSpPr/>
          <p:nvPr/>
        </p:nvSpPr>
        <p:spPr>
          <a:xfrm>
            <a:off x="4346933" y="1842280"/>
            <a:ext cx="3498137" cy="3281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600" dirty="0">
                <a:solidFill>
                  <a:sysClr val="windowText" lastClr="000000"/>
                </a:solidFill>
              </a:rPr>
              <a:t>수집</a:t>
            </a:r>
            <a:r>
              <a:rPr kumimoji="1" lang="ko-KR" altLang="en-US" sz="1600" dirty="0">
                <a:solidFill>
                  <a:sysClr val="windowText" lastClr="000000"/>
                </a:solidFill>
              </a:rPr>
              <a:t> 및 가공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A092FEC-BCF9-B439-39D5-B9CF62A8DB6A}"/>
              </a:ext>
            </a:extLst>
          </p:cNvPr>
          <p:cNvSpPr/>
          <p:nvPr/>
        </p:nvSpPr>
        <p:spPr>
          <a:xfrm>
            <a:off x="4681904" y="2928041"/>
            <a:ext cx="28281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r>
              <a:rPr 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11E5CB3-8E43-2C54-8FD5-5AF67AB8E1A4}"/>
              </a:ext>
            </a:extLst>
          </p:cNvPr>
          <p:cNvSpPr/>
          <p:nvPr/>
        </p:nvSpPr>
        <p:spPr>
          <a:xfrm>
            <a:off x="4681904" y="3306538"/>
            <a:ext cx="28281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가공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337EB7C9-5C0F-C34A-B4A1-1617D39C1407}"/>
              </a:ext>
            </a:extLst>
          </p:cNvPr>
          <p:cNvSpPr/>
          <p:nvPr/>
        </p:nvSpPr>
        <p:spPr>
          <a:xfrm>
            <a:off x="4681904" y="3685035"/>
            <a:ext cx="2828195" cy="237744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D123524-FC4F-9829-6202-2618BFD7DC84}"/>
              </a:ext>
            </a:extLst>
          </p:cNvPr>
          <p:cNvSpPr/>
          <p:nvPr/>
        </p:nvSpPr>
        <p:spPr>
          <a:xfrm>
            <a:off x="4681904" y="4063532"/>
            <a:ext cx="2828195" cy="2377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r>
              <a:rPr lang="ko-KR" altLang="en-US" sz="11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알람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0D3351-98A4-315F-5E40-C777D682C3C2}"/>
              </a:ext>
            </a:extLst>
          </p:cNvPr>
          <p:cNvSpPr/>
          <p:nvPr/>
        </p:nvSpPr>
        <p:spPr>
          <a:xfrm>
            <a:off x="8275269" y="2167930"/>
            <a:ext cx="3498137" cy="23674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6578D41-600A-1552-2D55-3839E9EE27FA}"/>
              </a:ext>
            </a:extLst>
          </p:cNvPr>
          <p:cNvSpPr/>
          <p:nvPr/>
        </p:nvSpPr>
        <p:spPr>
          <a:xfrm>
            <a:off x="8275269" y="1841031"/>
            <a:ext cx="3498137" cy="3281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ysClr val="windowText" lastClr="000000"/>
                </a:solidFill>
              </a:rPr>
              <a:t>실시간 이력 관리</a:t>
            </a:r>
            <a:endParaRPr kumimoji="1" lang="ko-Kore-KR" altLang="en-US" sz="160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Introduction to Node-Red. Node-Red is a low-code, flow… | by Caglar Cavdar  | Medium">
            <a:extLst>
              <a:ext uri="{FF2B5EF4-FFF2-40B4-BE49-F238E27FC236}">
                <a16:creationId xmlns:a16="http://schemas.microsoft.com/office/drawing/2014/main" id="{D6B161D6-5E7D-2FA2-BEC6-E77B03C12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33" y="2343841"/>
            <a:ext cx="1319936" cy="44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 10">
            <a:extLst>
              <a:ext uri="{FF2B5EF4-FFF2-40B4-BE49-F238E27FC236}">
                <a16:creationId xmlns:a16="http://schemas.microsoft.com/office/drawing/2014/main" id="{BD92A74A-4CB8-3434-50F6-640068D1F08E}"/>
              </a:ext>
            </a:extLst>
          </p:cNvPr>
          <p:cNvSpPr/>
          <p:nvPr/>
        </p:nvSpPr>
        <p:spPr>
          <a:xfrm>
            <a:off x="8610240" y="2294908"/>
            <a:ext cx="2828195" cy="999801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9B679B42-21CC-2491-A081-C373148B8DAA}"/>
              </a:ext>
            </a:extLst>
          </p:cNvPr>
          <p:cNvSpPr/>
          <p:nvPr/>
        </p:nvSpPr>
        <p:spPr>
          <a:xfrm>
            <a:off x="8610240" y="3415163"/>
            <a:ext cx="2828195" cy="99980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맑은 고딕" pitchFamily="34" charset="0"/>
                <a:ea typeface="맑은 고딕" pitchFamily="34" charset="-122"/>
              </a:rPr>
              <a:t>MQTT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89F74C-66EF-95B7-8F70-E8B611D9788A}"/>
              </a:ext>
            </a:extLst>
          </p:cNvPr>
          <p:cNvSpPr/>
          <p:nvPr/>
        </p:nvSpPr>
        <p:spPr>
          <a:xfrm>
            <a:off x="418595" y="1533861"/>
            <a:ext cx="3498137" cy="2420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FIELD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ABDBAA6-1170-A9F2-5943-EB6EA2EC03DE}"/>
              </a:ext>
            </a:extLst>
          </p:cNvPr>
          <p:cNvSpPr/>
          <p:nvPr/>
        </p:nvSpPr>
        <p:spPr>
          <a:xfrm>
            <a:off x="4346933" y="1540797"/>
            <a:ext cx="3498137" cy="2420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GATEWAY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ADBD444-A783-8E95-DE30-2A132827ED95}"/>
              </a:ext>
            </a:extLst>
          </p:cNvPr>
          <p:cNvSpPr/>
          <p:nvPr/>
        </p:nvSpPr>
        <p:spPr>
          <a:xfrm>
            <a:off x="8275269" y="1537742"/>
            <a:ext cx="3498137" cy="242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b="1" spc="600" dirty="0">
                <a:solidFill>
                  <a:schemeClr val="bg1"/>
                </a:solidFill>
              </a:rPr>
              <a:t>STORE</a:t>
            </a:r>
            <a:endParaRPr kumimoji="1" lang="ko-Kore-KR" altLang="en-US" b="1" spc="600" dirty="0">
              <a:solidFill>
                <a:schemeClr val="bg1"/>
              </a:solidFill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CE047E89-FAA5-7EED-28CB-8A77AD9A6B11}"/>
              </a:ext>
            </a:extLst>
          </p:cNvPr>
          <p:cNvSpPr/>
          <p:nvPr/>
        </p:nvSpPr>
        <p:spPr>
          <a:xfrm>
            <a:off x="658676" y="4326356"/>
            <a:ext cx="1579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kumimoji="1" lang="ko-KR" altLang="en-US" sz="1100" b="1" dirty="0"/>
              <a:t> </a:t>
            </a:r>
            <a:r>
              <a:rPr kumimoji="1" lang="en-US" altLang="ko-Kore-KR" sz="1100" b="1" dirty="0"/>
              <a:t>1</a:t>
            </a:r>
            <a:r>
              <a:rPr kumimoji="1" lang="en-US" altLang="ko-KR" sz="1100" b="1" dirty="0"/>
              <a:t>8</a:t>
            </a:r>
            <a:r>
              <a:rPr kumimoji="1" lang="ko-KR" altLang="en-US" sz="1100" b="1" dirty="0"/>
              <a:t>개 센서</a:t>
            </a:r>
            <a:endParaRPr kumimoji="1" lang="ko-Kore-KR" altLang="en-US" sz="1100" b="1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FB8A66-0EFE-DEEE-6E09-E78FCD165D39}"/>
              </a:ext>
            </a:extLst>
          </p:cNvPr>
          <p:cNvSpPr/>
          <p:nvPr/>
        </p:nvSpPr>
        <p:spPr>
          <a:xfrm>
            <a:off x="418595" y="4773780"/>
            <a:ext cx="3498137" cy="19013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18 설비</a:t>
            </a:r>
            <a:r>
              <a:rPr lang="en-US" altLang="ko-Kore-KR" sz="1200" dirty="0">
                <a:solidFill>
                  <a:schemeClr val="tx1"/>
                </a:solidFill>
              </a:rPr>
              <a:t>(</a:t>
            </a:r>
            <a:r>
              <a:rPr lang="ko-Kore-KR" altLang="ko-Kore-KR" sz="1200" dirty="0">
                <a:solidFill>
                  <a:schemeClr val="tx1"/>
                </a:solidFill>
              </a:rPr>
              <a:t>6공정 × 3대 </a:t>
            </a:r>
            <a:r>
              <a:rPr lang="en-US" altLang="ko-Kore-KR" sz="1200" dirty="0">
                <a:solidFill>
                  <a:schemeClr val="tx1"/>
                </a:solidFill>
              </a:rPr>
              <a:t>)</a:t>
            </a:r>
            <a:r>
              <a:rPr lang="ko-Kore-KR" altLang="ko-Kore-KR" sz="1200" dirty="0">
                <a:solidFill>
                  <a:schemeClr val="tx1"/>
                </a:solidFill>
              </a:rPr>
              <a:t> + 환경 18 센서 </a:t>
            </a:r>
            <a:br>
              <a:rPr lang="en-US" altLang="ko-Kore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ko-Kore-KR" altLang="ko-Kore-KR" sz="1200" b="1" dirty="0">
                <a:solidFill>
                  <a:schemeClr val="tx1"/>
                </a:solidFill>
              </a:rPr>
              <a:t>약 270 태그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설비마다 </a:t>
            </a:r>
            <a:r>
              <a:rPr lang="ko-Kore-KR" altLang="en-US" sz="1200" dirty="0">
                <a:solidFill>
                  <a:schemeClr val="tx1"/>
                </a:solidFill>
              </a:rPr>
              <a:t>다른</a:t>
            </a:r>
            <a:r>
              <a:rPr lang="ko-KR" altLang="en-US" sz="1200" dirty="0">
                <a:solidFill>
                  <a:schemeClr val="tx1"/>
                </a:solidFill>
              </a:rPr>
              <a:t> 통신 프로토콜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ko-Kore-KR" altLang="ko-Kore-KR" sz="1200" b="1" dirty="0">
                <a:solidFill>
                  <a:schemeClr val="tx1"/>
                </a:solidFill>
              </a:rPr>
              <a:t>Modbus / OPC UA / MQTT</a:t>
            </a:r>
            <a:endParaRPr lang="ko-Kore-KR" altLang="ko-Kore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200" dirty="0">
                <a:solidFill>
                  <a:schemeClr val="tx1"/>
                </a:solidFill>
              </a:rPr>
              <a:t>환경 BMS 보안상 별도 OT 세그먼트</a:t>
            </a:r>
            <a:endParaRPr lang="en-US" altLang="ko-Kore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ko-Kore-KR" sz="1600" b="1" dirty="0">
                <a:solidFill>
                  <a:schemeClr val="tx1"/>
                </a:solidFill>
              </a:rPr>
              <a:t>Python 시뮬레이터</a:t>
            </a:r>
            <a:r>
              <a:rPr lang="ko-Kore-KR" altLang="en-US" sz="1600" b="1" dirty="0">
                <a:solidFill>
                  <a:schemeClr val="tx1"/>
                </a:solidFill>
              </a:rPr>
              <a:t> 구동</a:t>
            </a:r>
            <a:endParaRPr lang="ko-Kore-KR" altLang="ko-Kore-KR" sz="16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B6BCFCD-D590-FD61-EB70-3D21C4779C56}"/>
              </a:ext>
            </a:extLst>
          </p:cNvPr>
          <p:cNvSpPr/>
          <p:nvPr/>
        </p:nvSpPr>
        <p:spPr>
          <a:xfrm>
            <a:off x="4372674" y="4773780"/>
            <a:ext cx="3498137" cy="19013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수집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ore-KR" sz="1200" dirty="0">
                <a:solidFill>
                  <a:schemeClr val="tx1"/>
                </a:solidFill>
              </a:rPr>
              <a:t>Modbus / OPC UA / MQTT </a:t>
            </a:r>
            <a:br>
              <a:rPr lang="en-US" altLang="ko-Kore-KR" sz="1200" dirty="0">
                <a:solidFill>
                  <a:schemeClr val="tx1"/>
                </a:solidFill>
              </a:rPr>
            </a:br>
            <a:r>
              <a:rPr lang="ko-Kore-KR" altLang="ko-Kore-KR" sz="1200" dirty="0">
                <a:solidFill>
                  <a:schemeClr val="tx1"/>
                </a:solidFill>
              </a:rPr>
              <a:t>→ </a:t>
            </a:r>
            <a:r>
              <a:rPr lang="en-US" altLang="ko-Kore-KR" sz="1200" b="1" dirty="0">
                <a:solidFill>
                  <a:schemeClr val="tx1"/>
                </a:solidFill>
              </a:rPr>
              <a:t>1·5·30s </a:t>
            </a:r>
            <a:r>
              <a:rPr lang="ko-KR" altLang="en-US" sz="1200" b="1" dirty="0">
                <a:solidFill>
                  <a:schemeClr val="tx1"/>
                </a:solidFill>
              </a:rPr>
              <a:t>다중 주기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가공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디코딩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en-US" altLang="ko-Kore-KR" sz="1200" dirty="0">
                <a:solidFill>
                  <a:schemeClr val="tx1"/>
                </a:solidFill>
              </a:rPr>
              <a:t>Int16 </a:t>
            </a:r>
            <a:r>
              <a:rPr lang="ko-KR" altLang="en-US" sz="1200" dirty="0">
                <a:solidFill>
                  <a:schemeClr val="tx1"/>
                </a:solidFill>
              </a:rPr>
              <a:t>스케일 복원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ore-KR" sz="1200" dirty="0" err="1">
                <a:solidFill>
                  <a:schemeClr val="tx1"/>
                </a:solidFill>
              </a:rPr>
              <a:t>tag_code</a:t>
            </a:r>
            <a:r>
              <a:rPr lang="en-US" altLang="ko-Kore-KR" sz="1200" dirty="0">
                <a:solidFill>
                  <a:schemeClr val="tx1"/>
                </a:solidFill>
              </a:rPr>
              <a:t> → </a:t>
            </a:r>
            <a:r>
              <a:rPr lang="en-US" altLang="ko-Kore-KR" sz="1200" dirty="0" err="1">
                <a:solidFill>
                  <a:schemeClr val="tx1"/>
                </a:solidFill>
              </a:rPr>
              <a:t>param_id</a:t>
            </a:r>
            <a:r>
              <a:rPr lang="en-US" altLang="ko-Kore-KR" sz="1200" dirty="0">
                <a:solidFill>
                  <a:schemeClr val="tx1"/>
                </a:solidFill>
              </a:rPr>
              <a:t> </a:t>
            </a:r>
            <a:r>
              <a:rPr lang="ko-KR" altLang="en-US" sz="1200" b="1" dirty="0">
                <a:solidFill>
                  <a:schemeClr val="tx1"/>
                </a:solidFill>
              </a:rPr>
              <a:t>매핑 </a:t>
            </a:r>
            <a:r>
              <a:rPr lang="en-US" altLang="ko-KR" sz="1200" b="1" dirty="0">
                <a:solidFill>
                  <a:schemeClr val="tx1"/>
                </a:solidFill>
              </a:rPr>
              <a:t>· </a:t>
            </a:r>
            <a:r>
              <a:rPr lang="ko-KR" altLang="en-US" sz="1200" b="1" dirty="0">
                <a:solidFill>
                  <a:schemeClr val="tx1"/>
                </a:solidFill>
              </a:rPr>
              <a:t>임계치 비교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저장 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시계열 데이터 저장 </a:t>
            </a:r>
            <a:r>
              <a:rPr lang="en-US" altLang="ko-KR" sz="1200" dirty="0">
                <a:solidFill>
                  <a:schemeClr val="tx1"/>
                </a:solidFill>
              </a:rPr>
              <a:t>(MySQL)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알람 </a:t>
            </a:r>
            <a:r>
              <a:rPr lang="en-US" altLang="ko-KR" sz="1200" dirty="0">
                <a:solidFill>
                  <a:schemeClr val="tx1"/>
                </a:solidFill>
              </a:rPr>
              <a:t>: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ore-KR" sz="1200" b="1" dirty="0">
                <a:solidFill>
                  <a:schemeClr val="tx1"/>
                </a:solidFill>
              </a:rPr>
              <a:t>DB(</a:t>
            </a:r>
            <a:r>
              <a:rPr lang="ko-KR" altLang="en-US" sz="1200" b="1" dirty="0">
                <a:solidFill>
                  <a:schemeClr val="tx1"/>
                </a:solidFill>
              </a:rPr>
              <a:t>이력</a:t>
            </a:r>
            <a:r>
              <a:rPr lang="en-US" altLang="ko-KR" sz="1200" b="1" dirty="0">
                <a:solidFill>
                  <a:schemeClr val="tx1"/>
                </a:solidFill>
              </a:rPr>
              <a:t>) + </a:t>
            </a:r>
            <a:r>
              <a:rPr lang="en-US" altLang="ko-Kore-KR" sz="1200" b="1" dirty="0">
                <a:solidFill>
                  <a:schemeClr val="tx1"/>
                </a:solidFill>
              </a:rPr>
              <a:t>MQTT(</a:t>
            </a:r>
            <a:r>
              <a:rPr lang="ko-KR" altLang="en-US" sz="1200" b="1" dirty="0">
                <a:solidFill>
                  <a:schemeClr val="tx1"/>
                </a:solidFill>
              </a:rPr>
              <a:t>실시간</a:t>
            </a:r>
            <a:r>
              <a:rPr lang="en-US" altLang="ko-KR" sz="1200" b="1" dirty="0">
                <a:solidFill>
                  <a:schemeClr val="tx1"/>
                </a:solidFill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</a:rPr>
              <a:t>이중 경로</a:t>
            </a:r>
          </a:p>
        </p:txBody>
      </p:sp>
      <p:pic>
        <p:nvPicPr>
          <p:cNvPr id="576" name="그림 575">
            <a:extLst>
              <a:ext uri="{FF2B5EF4-FFF2-40B4-BE49-F238E27FC236}">
                <a16:creationId xmlns:a16="http://schemas.microsoft.com/office/drawing/2014/main" id="{1AD57085-AB78-E486-35EB-916A6280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66" y="5126938"/>
            <a:ext cx="3889542" cy="15481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e2d7c9874b_3_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6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e2d7c9874b_3_150"/>
          <p:cNvSpPr/>
          <p:nvPr/>
        </p:nvSpPr>
        <p:spPr>
          <a:xfrm rot="10800000">
            <a:off x="174299" y="70770"/>
            <a:ext cx="12017700" cy="1221000"/>
          </a:xfrm>
          <a:prstGeom prst="round1Rect">
            <a:avLst>
              <a:gd name="adj" fmla="val 2379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13" name="Google Shape;613;g3e2d7c9874b_3_150"/>
          <p:cNvGrpSpPr/>
          <p:nvPr/>
        </p:nvGrpSpPr>
        <p:grpSpPr>
          <a:xfrm>
            <a:off x="376102" y="333243"/>
            <a:ext cx="5948619" cy="831300"/>
            <a:chOff x="376102" y="333243"/>
            <a:chExt cx="5948619" cy="831300"/>
          </a:xfrm>
        </p:grpSpPr>
        <p:sp>
          <p:nvSpPr>
            <p:cNvPr id="614" name="Google Shape;614;g3e2d7c9874b_3_150"/>
            <p:cNvSpPr txBox="1"/>
            <p:nvPr/>
          </p:nvSpPr>
          <p:spPr>
            <a:xfrm>
              <a:off x="1461721" y="366114"/>
              <a:ext cx="225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5" name="Google Shape;615;g3e2d7c9874b_3_150"/>
            <p:cNvSpPr txBox="1"/>
            <p:nvPr/>
          </p:nvSpPr>
          <p:spPr>
            <a:xfrm>
              <a:off x="1461721" y="585057"/>
              <a:ext cx="486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과정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e2d7c9874b_3_150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1" i="0" u="none" strike="noStrike" cap="none">
                  <a:solidFill>
                    <a:srgbClr val="3378C8"/>
                  </a:solidFill>
                </a:rPr>
                <a:t>0</a:t>
              </a:r>
              <a:r>
                <a:rPr lang="ko-KR" sz="5400" b="1">
                  <a:solidFill>
                    <a:srgbClr val="3378C8"/>
                  </a:solidFill>
                </a:rPr>
                <a:t>3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g3e2d7c9874b_3_15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e2d7c9874b_3_150"/>
          <p:cNvSpPr txBox="1"/>
          <p:nvPr/>
        </p:nvSpPr>
        <p:spPr>
          <a:xfrm>
            <a:off x="0" y="0"/>
            <a:ext cx="1336800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e2d7c9874b_3_150"/>
          <p:cNvSpPr txBox="1"/>
          <p:nvPr/>
        </p:nvSpPr>
        <p:spPr>
          <a:xfrm>
            <a:off x="1469531" y="95794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DAS</a:t>
            </a:r>
            <a:endParaRPr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49B433E8-7DF3-69D9-1B9D-9A728C17F739}"/>
              </a:ext>
            </a:extLst>
          </p:cNvPr>
          <p:cNvSpPr/>
          <p:nvPr/>
        </p:nvSpPr>
        <p:spPr>
          <a:xfrm>
            <a:off x="548640" y="1874520"/>
            <a:ext cx="2533574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A1D913D9-7881-DA41-FED4-FE07CE6ADE7F}"/>
              </a:ext>
            </a:extLst>
          </p:cNvPr>
          <p:cNvSpPr/>
          <p:nvPr/>
        </p:nvSpPr>
        <p:spPr>
          <a:xfrm>
            <a:off x="2122094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800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386DA7AE-D23A-F726-BC22-D092AFA8BE13}"/>
              </a:ext>
            </a:extLst>
          </p:cNvPr>
          <p:cNvSpPr/>
          <p:nvPr/>
        </p:nvSpPr>
        <p:spPr>
          <a:xfrm>
            <a:off x="777240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26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8A9A5E0F-3B6A-69F8-EDF3-41B38993CB05}"/>
              </a:ext>
            </a:extLst>
          </p:cNvPr>
          <p:cNvSpPr/>
          <p:nvPr/>
        </p:nvSpPr>
        <p:spPr>
          <a:xfrm>
            <a:off x="777240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 Read × 36</a:t>
            </a:r>
            <a:endParaRPr lang="en-US" sz="11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AA6427DF-9762-5F38-D23F-F874D4D031CA}"/>
              </a:ext>
            </a:extLst>
          </p:cNvPr>
          <p:cNvSpPr/>
          <p:nvPr/>
        </p:nvSpPr>
        <p:spPr>
          <a:xfrm>
            <a:off x="777240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 Fan-out 66 NodeID</a:t>
            </a:r>
            <a:endParaRPr lang="en-US" sz="11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8ACD7FF3-2C00-F86C-34B1-1F8E3F7651E1}"/>
              </a:ext>
            </a:extLst>
          </p:cNvPr>
          <p:cNvSpPr/>
          <p:nvPr/>
        </p:nvSpPr>
        <p:spPr>
          <a:xfrm>
            <a:off x="777240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</a:t>
            </a:r>
            <a:r>
              <a:rPr lang="en-US" sz="11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</a:t>
            </a:r>
            <a:endParaRPr lang="en-US" sz="11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4DAFD32B-0A24-89B2-4C26-8E70682F181D}"/>
              </a:ext>
            </a:extLst>
          </p:cNvPr>
          <p:cNvSpPr/>
          <p:nvPr/>
        </p:nvSpPr>
        <p:spPr>
          <a:xfrm>
            <a:off x="777240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센서별 1 · 5 · 30s 주기</a:t>
            </a:r>
            <a:endParaRPr lang="en-US" sz="1100" dirty="0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80146B35-A600-D69F-EBC1-5C11E3BD4C2B}"/>
              </a:ext>
            </a:extLst>
          </p:cNvPr>
          <p:cNvSpPr/>
          <p:nvPr/>
        </p:nvSpPr>
        <p:spPr>
          <a:xfrm>
            <a:off x="777240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EC888BA0-3498-080C-B0A8-2FE8D37D7338}"/>
              </a:ext>
            </a:extLst>
          </p:cNvPr>
          <p:cNvSpPr/>
          <p:nvPr/>
        </p:nvSpPr>
        <p:spPr>
          <a:xfrm>
            <a:off x="777240" y="4160520"/>
            <a:ext cx="2076374" cy="2926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</a:t>
            </a: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이질성</a:t>
            </a:r>
            <a:r>
              <a:rPr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해결</a:t>
            </a:r>
            <a:endParaRPr lang="en-US" sz="900" dirty="0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F8CEC8F4-91AF-C687-8548-A381814C76DA}"/>
              </a:ext>
            </a:extLst>
          </p:cNvPr>
          <p:cNvSpPr/>
          <p:nvPr/>
        </p:nvSpPr>
        <p:spPr>
          <a:xfrm>
            <a:off x="3402254" y="1874520"/>
            <a:ext cx="2533574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33F16413-B0A1-A624-1172-32A13DEB5D23}"/>
              </a:ext>
            </a:extLst>
          </p:cNvPr>
          <p:cNvSpPr/>
          <p:nvPr/>
        </p:nvSpPr>
        <p:spPr>
          <a:xfrm>
            <a:off x="4975708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7BC318D7-73E5-27D8-7172-A7050FFD08AE}"/>
              </a:ext>
            </a:extLst>
          </p:cNvPr>
          <p:cNvSpPr/>
          <p:nvPr/>
        </p:nvSpPr>
        <p:spPr>
          <a:xfrm>
            <a:off x="3630854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</a:t>
            </a:r>
            <a:endParaRPr lang="en-US" sz="26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22BF1DAE-0EB7-57EB-923F-A1387598AD57}"/>
              </a:ext>
            </a:extLst>
          </p:cNvPr>
          <p:cNvSpPr/>
          <p:nvPr/>
        </p:nvSpPr>
        <p:spPr>
          <a:xfrm>
            <a:off x="3630854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노드 88개</a:t>
            </a:r>
            <a:endParaRPr lang="en-US" sz="11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4E22D63C-4BD8-C72A-EF1D-A30506501B66}"/>
              </a:ext>
            </a:extLst>
          </p:cNvPr>
          <p:cNvSpPr/>
          <p:nvPr/>
        </p:nvSpPr>
        <p:spPr>
          <a:xfrm>
            <a:off x="3630854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Int16 → 실수 스케일 복원</a:t>
            </a:r>
            <a:endParaRPr lang="en-US" sz="110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045ED265-2214-F205-8937-6273F406AF0A}"/>
              </a:ext>
            </a:extLst>
          </p:cNvPr>
          <p:cNvSpPr/>
          <p:nvPr/>
        </p:nvSpPr>
        <p:spPr>
          <a:xfrm>
            <a:off x="3630854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tag_code → param_id 매핑</a:t>
            </a:r>
            <a:endParaRPr lang="en-US" sz="11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BCD8672C-742A-534B-E258-274AF3A57E83}"/>
              </a:ext>
            </a:extLst>
          </p:cNvPr>
          <p:cNvSpPr/>
          <p:nvPr/>
        </p:nvSpPr>
        <p:spPr>
          <a:xfrm>
            <a:off x="3630854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임계치 비교 (NORMAL/WARN/ALERT)</a:t>
            </a:r>
            <a:endParaRPr lang="en-US" sz="1100" dirty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07016FF1-D30F-7383-14DF-4DE6342D3723}"/>
              </a:ext>
            </a:extLst>
          </p:cNvPr>
          <p:cNvSpPr/>
          <p:nvPr/>
        </p:nvSpPr>
        <p:spPr>
          <a:xfrm>
            <a:off x="3630854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2B339554-03FC-4662-5133-F6DA763274D8}"/>
              </a:ext>
            </a:extLst>
          </p:cNvPr>
          <p:cNvSpPr/>
          <p:nvPr/>
        </p:nvSpPr>
        <p:spPr>
          <a:xfrm>
            <a:off x="3630854" y="4160520"/>
            <a:ext cx="2076374" cy="2926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</a:t>
            </a:r>
            <a:endParaRPr lang="en-US" sz="900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45DC25B4-04CD-90D7-DAAD-49DD76BB11DE}"/>
              </a:ext>
            </a:extLst>
          </p:cNvPr>
          <p:cNvSpPr/>
          <p:nvPr/>
        </p:nvSpPr>
        <p:spPr>
          <a:xfrm>
            <a:off x="6255868" y="1874520"/>
            <a:ext cx="2533574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A56CD0BA-5D62-4769-E165-48F026675996}"/>
              </a:ext>
            </a:extLst>
          </p:cNvPr>
          <p:cNvSpPr/>
          <p:nvPr/>
        </p:nvSpPr>
        <p:spPr>
          <a:xfrm>
            <a:off x="7829321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800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565A9F37-95BF-2324-006D-6D48F917540E}"/>
              </a:ext>
            </a:extLst>
          </p:cNvPr>
          <p:cNvSpPr/>
          <p:nvPr/>
        </p:nvSpPr>
        <p:spPr>
          <a:xfrm>
            <a:off x="6484468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2600" dirty="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B9CB2A06-1655-E21C-239C-3A1CE0CDF8A8}"/>
              </a:ext>
            </a:extLst>
          </p:cNvPr>
          <p:cNvSpPr/>
          <p:nvPr/>
        </p:nvSpPr>
        <p:spPr>
          <a:xfrm>
            <a:off x="6484468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 (parameters)</a:t>
            </a:r>
            <a:endParaRPr lang="en-US" sz="1100" dirty="0"/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1AC16FEE-DF59-593C-0F3A-AF40907DE326}"/>
              </a:ext>
            </a:extLst>
          </p:cNvPr>
          <p:cNvSpPr/>
          <p:nvPr/>
        </p:nvSpPr>
        <p:spPr>
          <a:xfrm>
            <a:off x="6484468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↕ 시계열 (measurements)</a:t>
            </a:r>
            <a:endParaRPr lang="en-US" sz="1100" dirty="0"/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BBB46CB5-E408-E513-AA38-DD97FDA0608F}"/>
              </a:ext>
            </a:extLst>
          </p:cNvPr>
          <p:cNvSpPr/>
          <p:nvPr/>
        </p:nvSpPr>
        <p:spPr>
          <a:xfrm>
            <a:off x="6484468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분리된 Historian 모델</a:t>
            </a:r>
            <a:endParaRPr lang="en-US" sz="1100" dirty="0"/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285CF13C-72B0-8D76-90C0-F2975CE08A65}"/>
              </a:ext>
            </a:extLst>
          </p:cNvPr>
          <p:cNvSpPr/>
          <p:nvPr/>
        </p:nvSpPr>
        <p:spPr>
          <a:xfrm>
            <a:off x="6484468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row INSERT</a:t>
            </a:r>
            <a:endParaRPr lang="en-US" sz="1100" dirty="0"/>
          </a:p>
        </p:txBody>
      </p:sp>
      <p:sp>
        <p:nvSpPr>
          <p:cNvPr id="33" name="Shape 38">
            <a:extLst>
              <a:ext uri="{FF2B5EF4-FFF2-40B4-BE49-F238E27FC236}">
                <a16:creationId xmlns:a16="http://schemas.microsoft.com/office/drawing/2014/main" id="{9BB24B7D-01A1-C293-4E0F-D31939BED795}"/>
              </a:ext>
            </a:extLst>
          </p:cNvPr>
          <p:cNvSpPr/>
          <p:nvPr/>
        </p:nvSpPr>
        <p:spPr>
          <a:xfrm>
            <a:off x="6484468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56692E26-5568-198A-05B6-4A3488084162}"/>
              </a:ext>
            </a:extLst>
          </p:cNvPr>
          <p:cNvSpPr/>
          <p:nvPr/>
        </p:nvSpPr>
        <p:spPr>
          <a:xfrm>
            <a:off x="6484468" y="4160520"/>
            <a:ext cx="2076374" cy="29260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추상화</a:t>
            </a:r>
            <a:endParaRPr lang="en-US" sz="900" dirty="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74B475D0-0807-EE3D-791D-F5167CA5BD6A}"/>
              </a:ext>
            </a:extLst>
          </p:cNvPr>
          <p:cNvSpPr/>
          <p:nvPr/>
        </p:nvSpPr>
        <p:spPr>
          <a:xfrm>
            <a:off x="9109481" y="1874520"/>
            <a:ext cx="2533574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41">
            <a:extLst>
              <a:ext uri="{FF2B5EF4-FFF2-40B4-BE49-F238E27FC236}">
                <a16:creationId xmlns:a16="http://schemas.microsoft.com/office/drawing/2014/main" id="{D531D87F-C2CA-12A2-B601-A41B753CADDF}"/>
              </a:ext>
            </a:extLst>
          </p:cNvPr>
          <p:cNvSpPr/>
          <p:nvPr/>
        </p:nvSpPr>
        <p:spPr>
          <a:xfrm>
            <a:off x="10682935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800" dirty="0"/>
          </a:p>
        </p:txBody>
      </p:sp>
      <p:sp>
        <p:nvSpPr>
          <p:cNvPr id="37" name="Text 42">
            <a:extLst>
              <a:ext uri="{FF2B5EF4-FFF2-40B4-BE49-F238E27FC236}">
                <a16:creationId xmlns:a16="http://schemas.microsoft.com/office/drawing/2014/main" id="{C580791C-C0B5-80B1-B48D-73662EDE2CB9}"/>
              </a:ext>
            </a:extLst>
          </p:cNvPr>
          <p:cNvSpPr/>
          <p:nvPr/>
        </p:nvSpPr>
        <p:spPr>
          <a:xfrm>
            <a:off x="9338081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</a:t>
            </a:r>
            <a:endParaRPr lang="en-US" sz="2600" dirty="0"/>
          </a:p>
        </p:txBody>
      </p:sp>
      <p:sp>
        <p:nvSpPr>
          <p:cNvPr id="40" name="Text 45">
            <a:extLst>
              <a:ext uri="{FF2B5EF4-FFF2-40B4-BE49-F238E27FC236}">
                <a16:creationId xmlns:a16="http://schemas.microsoft.com/office/drawing/2014/main" id="{A5DCB9B9-02B1-0779-45F5-95548B6BAEF1}"/>
              </a:ext>
            </a:extLst>
          </p:cNvPr>
          <p:cNvSpPr/>
          <p:nvPr/>
        </p:nvSpPr>
        <p:spPr>
          <a:xfrm>
            <a:off x="9338081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Edge-trigger 디듀플</a:t>
            </a:r>
            <a:endParaRPr lang="en-US" sz="1100" dirty="0"/>
          </a:p>
        </p:txBody>
      </p:sp>
      <p:sp>
        <p:nvSpPr>
          <p:cNvPr id="41" name="Text 46">
            <a:extLst>
              <a:ext uri="{FF2B5EF4-FFF2-40B4-BE49-F238E27FC236}">
                <a16:creationId xmlns:a16="http://schemas.microsoft.com/office/drawing/2014/main" id="{8EC74688-F14A-66AF-8238-744B5D931FDE}"/>
              </a:ext>
            </a:extLst>
          </p:cNvPr>
          <p:cNvSpPr/>
          <p:nvPr/>
        </p:nvSpPr>
        <p:spPr>
          <a:xfrm>
            <a:off x="9338081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경로 → alarms 테이블</a:t>
            </a:r>
            <a:endParaRPr lang="en-US" sz="1100" dirty="0"/>
          </a:p>
        </p:txBody>
      </p:sp>
      <p:sp>
        <p:nvSpPr>
          <p:cNvPr id="42" name="Text 47">
            <a:extLst>
              <a:ext uri="{FF2B5EF4-FFF2-40B4-BE49-F238E27FC236}">
                <a16:creationId xmlns:a16="http://schemas.microsoft.com/office/drawing/2014/main" id="{952C2085-AB61-E5C0-B68D-40DC096730D3}"/>
              </a:ext>
            </a:extLst>
          </p:cNvPr>
          <p:cNvSpPr/>
          <p:nvPr/>
        </p:nvSpPr>
        <p:spPr>
          <a:xfrm>
            <a:off x="9338081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경로 → 즉시 publish</a:t>
            </a:r>
            <a:endParaRPr lang="en-US" sz="1100" dirty="0"/>
          </a:p>
        </p:txBody>
      </p:sp>
      <p:sp>
        <p:nvSpPr>
          <p:cNvPr id="43" name="Text 48">
            <a:extLst>
              <a:ext uri="{FF2B5EF4-FFF2-40B4-BE49-F238E27FC236}">
                <a16:creationId xmlns:a16="http://schemas.microsoft.com/office/drawing/2014/main" id="{DBB44C5F-7ED1-375C-CBDF-D5FDF971D5B1}"/>
              </a:ext>
            </a:extLst>
          </p:cNvPr>
          <p:cNvSpPr/>
          <p:nvPr/>
        </p:nvSpPr>
        <p:spPr>
          <a:xfrm>
            <a:off x="9338081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경로 동시 전파</a:t>
            </a:r>
            <a:endParaRPr lang="en-US" sz="1100" dirty="0"/>
          </a:p>
        </p:txBody>
      </p:sp>
      <p:sp>
        <p:nvSpPr>
          <p:cNvPr id="44" name="Shape 49">
            <a:extLst>
              <a:ext uri="{FF2B5EF4-FFF2-40B4-BE49-F238E27FC236}">
                <a16:creationId xmlns:a16="http://schemas.microsoft.com/office/drawing/2014/main" id="{13905C3E-A7AB-478E-97DF-A175A0AB485B}"/>
              </a:ext>
            </a:extLst>
          </p:cNvPr>
          <p:cNvSpPr/>
          <p:nvPr/>
        </p:nvSpPr>
        <p:spPr>
          <a:xfrm>
            <a:off x="9338081" y="4160520"/>
            <a:ext cx="2076374" cy="292608"/>
          </a:xfrm>
          <a:prstGeom prst="rect">
            <a:avLst/>
          </a:prstGeom>
          <a:solidFill>
            <a:srgbClr val="F77F00"/>
          </a:solidFill>
          <a:ln w="63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 50">
            <a:extLst>
              <a:ext uri="{FF2B5EF4-FFF2-40B4-BE49-F238E27FC236}">
                <a16:creationId xmlns:a16="http://schemas.microsoft.com/office/drawing/2014/main" id="{514C7CF9-9CDC-3917-9FDF-B69F74036A23}"/>
              </a:ext>
            </a:extLst>
          </p:cNvPr>
          <p:cNvSpPr/>
          <p:nvPr/>
        </p:nvSpPr>
        <p:spPr>
          <a:xfrm>
            <a:off x="9338081" y="4160520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실시간성</a:t>
            </a:r>
            <a:r>
              <a:rPr 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</a:t>
            </a:r>
            <a:r>
              <a:rPr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</a:t>
            </a:r>
            <a:r>
              <a:rPr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D8E5A-03C7-6931-02B8-46284F00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993B82-D2B2-BC2A-809E-E308AEFAB1D2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7F7294-C414-C573-2B23-CF00ED5D5E49}"/>
              </a:ext>
            </a:extLst>
          </p:cNvPr>
          <p:cNvSpPr/>
          <p:nvPr/>
        </p:nvSpPr>
        <p:spPr>
          <a:xfrm>
            <a:off x="0" y="6675120"/>
            <a:ext cx="12191695" cy="4572"/>
          </a:xfrm>
          <a:prstGeom prst="rect">
            <a:avLst/>
          </a:prstGeom>
          <a:solidFill>
            <a:srgbClr val="3A4A65"/>
          </a:solidFill>
          <a:ln w="1270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F29808-D6F5-F38A-3EB6-455B340F2FA9}"/>
              </a:ext>
            </a:extLst>
          </p:cNvPr>
          <p:cNvSpPr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02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351DC2-293C-3197-A97A-EDDF384EB3B0}"/>
              </a:ext>
            </a:extLst>
          </p:cNvPr>
          <p:cNvSpPr/>
          <p:nvPr/>
        </p:nvSpPr>
        <p:spPr>
          <a:xfrm>
            <a:off x="36576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SCADA-DAS · 김완택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760CE0-F2B6-3BB1-2ECC-6501E7ABAB45}"/>
              </a:ext>
            </a:extLst>
          </p:cNvPr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DAS · DATA ACQUISITION SYSTEM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4175DD-D3DA-3D62-3AC9-B4B3B620F384}"/>
              </a:ext>
            </a:extLst>
          </p:cNvPr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이질적인 6공정 라인을 단일 SCADA로</a:t>
            </a:r>
            <a:endParaRPr lang="en-US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601312-952E-3CA4-8C2D-8CC3C7988C5B}"/>
              </a:ext>
            </a:extLst>
          </p:cNvPr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</a:t>
            </a:r>
            <a:r>
              <a:rPr lang="en-US" sz="1200" b="1" kern="0" spc="8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▸    </a:t>
            </a: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GATEWAY</a:t>
            </a:r>
            <a:r>
              <a:rPr lang="en-US" sz="1200" b="1" kern="0" spc="8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▸    </a:t>
            </a:r>
            <a:r>
              <a:rPr lang="en-US" sz="1200" b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STORE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FA5F07-F07A-8416-2D5E-80D5E563DEBA}"/>
              </a:ext>
            </a:extLst>
          </p:cNvPr>
          <p:cNvSpPr/>
          <p:nvPr/>
        </p:nvSpPr>
        <p:spPr>
          <a:xfrm>
            <a:off x="548640" y="1874520"/>
            <a:ext cx="3383280" cy="292608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E291F1B-BEEC-3A48-8E90-20252BF94EF1}"/>
              </a:ext>
            </a:extLst>
          </p:cNvPr>
          <p:cNvSpPr/>
          <p:nvPr/>
        </p:nvSpPr>
        <p:spPr>
          <a:xfrm>
            <a:off x="548640" y="1874520"/>
            <a:ext cx="3383280" cy="292608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202289-BC09-1B6A-4339-3965E2163F0C}"/>
              </a:ext>
            </a:extLst>
          </p:cNvPr>
          <p:cNvSpPr/>
          <p:nvPr/>
        </p:nvSpPr>
        <p:spPr>
          <a:xfrm>
            <a:off x="5486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  ·  6공정 18대 + 환경 18센서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244DFB-84BE-6D43-54DB-AC8939F07B23}"/>
              </a:ext>
            </a:extLst>
          </p:cNvPr>
          <p:cNvSpPr/>
          <p:nvPr/>
        </p:nvSpPr>
        <p:spPr>
          <a:xfrm>
            <a:off x="731520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C7488DF-C4B3-1266-69DE-AEA03488F248}"/>
              </a:ext>
            </a:extLst>
          </p:cNvPr>
          <p:cNvSpPr/>
          <p:nvPr/>
        </p:nvSpPr>
        <p:spPr>
          <a:xfrm>
            <a:off x="2926080" y="231343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EA295F-138D-9EF5-6177-2EA0FCF1EC9B}"/>
              </a:ext>
            </a:extLst>
          </p:cNvPr>
          <p:cNvSpPr/>
          <p:nvPr/>
        </p:nvSpPr>
        <p:spPr>
          <a:xfrm>
            <a:off x="2926080" y="23134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E0B80C4-2C1A-0251-C7BF-76D1CF586D9D}"/>
              </a:ext>
            </a:extLst>
          </p:cNvPr>
          <p:cNvSpPr/>
          <p:nvPr/>
        </p:nvSpPr>
        <p:spPr>
          <a:xfrm>
            <a:off x="731520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산화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FURN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5647F5B-65CD-CAD1-77D2-B5A9D0264FB1}"/>
              </a:ext>
            </a:extLst>
          </p:cNvPr>
          <p:cNvSpPr/>
          <p:nvPr/>
        </p:nvSpPr>
        <p:spPr>
          <a:xfrm>
            <a:off x="2926080" y="2587752"/>
            <a:ext cx="822960" cy="182880"/>
          </a:xfrm>
          <a:prstGeom prst="rect">
            <a:avLst/>
          </a:prstGeom>
          <a:solidFill>
            <a:srgbClr val="F77F00">
              <a:alpha val="25000"/>
            </a:srgbClr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3EB847-2AC0-04B4-A301-DC1CBBA77177}"/>
              </a:ext>
            </a:extLst>
          </p:cNvPr>
          <p:cNvSpPr/>
          <p:nvPr/>
        </p:nvSpPr>
        <p:spPr>
          <a:xfrm>
            <a:off x="2926080" y="2587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CD1203-459A-1645-4880-E8D9CAB7E4A5}"/>
              </a:ext>
            </a:extLst>
          </p:cNvPr>
          <p:cNvSpPr/>
          <p:nvPr/>
        </p:nvSpPr>
        <p:spPr>
          <a:xfrm>
            <a:off x="73152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박막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PECVD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E277993-156C-2A1F-FF4B-93209CAD1B44}"/>
              </a:ext>
            </a:extLst>
          </p:cNvPr>
          <p:cNvSpPr/>
          <p:nvPr/>
        </p:nvSpPr>
        <p:spPr>
          <a:xfrm>
            <a:off x="2926080" y="2862072"/>
            <a:ext cx="822960" cy="182880"/>
          </a:xfrm>
          <a:prstGeom prst="rect">
            <a:avLst/>
          </a:prstGeom>
          <a:solidFill>
            <a:srgbClr val="06D6A0">
              <a:alpha val="25000"/>
            </a:srgbClr>
          </a:solidFill>
          <a:ln w="952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56C3C6C-BF93-88F6-8DE9-BDC660200F21}"/>
              </a:ext>
            </a:extLst>
          </p:cNvPr>
          <p:cNvSpPr/>
          <p:nvPr/>
        </p:nvSpPr>
        <p:spPr>
          <a:xfrm>
            <a:off x="2926080" y="2862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E840C6-002E-84BC-3856-8BF2336B45AE}"/>
              </a:ext>
            </a:extLst>
          </p:cNvPr>
          <p:cNvSpPr/>
          <p:nvPr/>
        </p:nvSpPr>
        <p:spPr>
          <a:xfrm>
            <a:off x="731520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식각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ETCH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1C8CF7-6B16-5737-C255-81CC8F0B9227}"/>
              </a:ext>
            </a:extLst>
          </p:cNvPr>
          <p:cNvSpPr/>
          <p:nvPr/>
        </p:nvSpPr>
        <p:spPr>
          <a:xfrm>
            <a:off x="2926080" y="3136392"/>
            <a:ext cx="822960" cy="182880"/>
          </a:xfrm>
          <a:prstGeom prst="rect">
            <a:avLst/>
          </a:prstGeom>
          <a:solidFill>
            <a:srgbClr val="06D6A0">
              <a:alpha val="25000"/>
            </a:srgbClr>
          </a:solidFill>
          <a:ln w="952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E882918-1550-4BA9-089F-7FF32C66E331}"/>
              </a:ext>
            </a:extLst>
          </p:cNvPr>
          <p:cNvSpPr/>
          <p:nvPr/>
        </p:nvSpPr>
        <p:spPr>
          <a:xfrm>
            <a:off x="2926080" y="3136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DB871E-CF13-A54D-8733-4DDEA16DCAB3}"/>
              </a:ext>
            </a:extLst>
          </p:cNvPr>
          <p:cNvSpPr/>
          <p:nvPr/>
        </p:nvSpPr>
        <p:spPr>
          <a:xfrm>
            <a:off x="731520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SPTT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7235BF4-36B7-745E-034C-4A00F11EE22C}"/>
              </a:ext>
            </a:extLst>
          </p:cNvPr>
          <p:cNvSpPr/>
          <p:nvPr/>
        </p:nvSpPr>
        <p:spPr>
          <a:xfrm>
            <a:off x="2926080" y="341071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5C0801E-5A36-B3AF-26A7-DA5CD172BB53}"/>
              </a:ext>
            </a:extLst>
          </p:cNvPr>
          <p:cNvSpPr/>
          <p:nvPr/>
        </p:nvSpPr>
        <p:spPr>
          <a:xfrm>
            <a:off x="2926080" y="34107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F9F1A99-0BDC-5DC3-57F1-C67BF4E34456}"/>
              </a:ext>
            </a:extLst>
          </p:cNvPr>
          <p:cNvSpPr/>
          <p:nvPr/>
        </p:nvSpPr>
        <p:spPr>
          <a:xfrm>
            <a:off x="731520" y="3657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PROBE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409625F-06C2-EB53-CA56-14E45247E191}"/>
              </a:ext>
            </a:extLst>
          </p:cNvPr>
          <p:cNvSpPr/>
          <p:nvPr/>
        </p:nvSpPr>
        <p:spPr>
          <a:xfrm>
            <a:off x="2926080" y="3685032"/>
            <a:ext cx="822960" cy="182880"/>
          </a:xfrm>
          <a:prstGeom prst="rect">
            <a:avLst/>
          </a:prstGeom>
          <a:solidFill>
            <a:srgbClr val="4ECDC4">
              <a:alpha val="25000"/>
            </a:srgbClr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AB66342-0ADF-C9B1-DF87-37323E1B6E9E}"/>
              </a:ext>
            </a:extLst>
          </p:cNvPr>
          <p:cNvSpPr/>
          <p:nvPr/>
        </p:nvSpPr>
        <p:spPr>
          <a:xfrm>
            <a:off x="2926080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36A94BC-CD93-2978-0215-23D06A5C8D67}"/>
              </a:ext>
            </a:extLst>
          </p:cNvPr>
          <p:cNvSpPr/>
          <p:nvPr/>
        </p:nvSpPr>
        <p:spPr>
          <a:xfrm>
            <a:off x="731520" y="4014216"/>
            <a:ext cx="3017520" cy="0"/>
          </a:xfrm>
          <a:prstGeom prst="line">
            <a:avLst/>
          </a:prstGeom>
          <a:noFill/>
          <a:ln w="9525">
            <a:solidFill>
              <a:srgbClr val="3A4A65"/>
            </a:solidFill>
            <a:prstDash val="dash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04F8156-F053-896F-000E-26F03D89436B}"/>
              </a:ext>
            </a:extLst>
          </p:cNvPr>
          <p:cNvSpPr/>
          <p:nvPr/>
        </p:nvSpPr>
        <p:spPr>
          <a:xfrm>
            <a:off x="731520" y="4069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</a:t>
            </a:r>
            <a:r>
              <a:rPr lang="en-US" sz="12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BMS  </a:t>
            </a: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센서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873BFC4-C17F-6A9E-DE12-263EF6FE4055}"/>
              </a:ext>
            </a:extLst>
          </p:cNvPr>
          <p:cNvSpPr/>
          <p:nvPr/>
        </p:nvSpPr>
        <p:spPr>
          <a:xfrm>
            <a:off x="2926080" y="4096512"/>
            <a:ext cx="822960" cy="182880"/>
          </a:xfrm>
          <a:prstGeom prst="rect">
            <a:avLst/>
          </a:prstGeom>
          <a:solidFill>
            <a:srgbClr val="F77F00">
              <a:alpha val="25000"/>
            </a:srgbClr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8A68BD0-D2D4-44CC-3620-86D688973203}"/>
              </a:ext>
            </a:extLst>
          </p:cNvPr>
          <p:cNvSpPr/>
          <p:nvPr/>
        </p:nvSpPr>
        <p:spPr>
          <a:xfrm>
            <a:off x="2926080" y="4096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</a:t>
            </a:r>
            <a:endParaRPr lang="en-US" sz="9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FA14AAF-52C4-43D9-6774-41E6EDDCA09B}"/>
              </a:ext>
            </a:extLst>
          </p:cNvPr>
          <p:cNvSpPr/>
          <p:nvPr/>
        </p:nvSpPr>
        <p:spPr>
          <a:xfrm>
            <a:off x="4434840" y="1874520"/>
            <a:ext cx="3383280" cy="2926080"/>
          </a:xfrm>
          <a:prstGeom prst="rect">
            <a:avLst/>
          </a:prstGeom>
          <a:solidFill>
            <a:srgbClr val="2A3A55"/>
          </a:solidFill>
          <a:ln w="1587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F3C850F-E828-6156-FA8C-D4DC41C4DDEB}"/>
              </a:ext>
            </a:extLst>
          </p:cNvPr>
          <p:cNvSpPr/>
          <p:nvPr/>
        </p:nvSpPr>
        <p:spPr>
          <a:xfrm>
            <a:off x="4434840" y="1874520"/>
            <a:ext cx="3383280" cy="2926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98DC52D-605B-985E-6701-E37D8E85D3E8}"/>
              </a:ext>
            </a:extLst>
          </p:cNvPr>
          <p:cNvSpPr/>
          <p:nvPr/>
        </p:nvSpPr>
        <p:spPr>
          <a:xfrm>
            <a:off x="44348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GATEWAY  ·  Node-RED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46863CD-D063-14D8-BCAE-8330E73D3ED1}"/>
              </a:ext>
            </a:extLst>
          </p:cNvPr>
          <p:cNvSpPr/>
          <p:nvPr/>
        </p:nvSpPr>
        <p:spPr>
          <a:xfrm>
            <a:off x="443484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Node-RED</a:t>
            </a:r>
            <a:endParaRPr lang="en-US" sz="2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BB4B4C2-E6AD-049C-F869-3B35369F924B}"/>
              </a:ext>
            </a:extLst>
          </p:cNvPr>
          <p:cNvSpPr/>
          <p:nvPr/>
        </p:nvSpPr>
        <p:spPr>
          <a:xfrm>
            <a:off x="44348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315 nodes  ·  9 sections</a:t>
            </a:r>
            <a:endParaRPr lang="en-US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C692A18-BC5F-A4AE-DA78-35AC3B206703}"/>
              </a:ext>
            </a:extLst>
          </p:cNvPr>
          <p:cNvSpPr/>
          <p:nvPr/>
        </p:nvSpPr>
        <p:spPr>
          <a:xfrm>
            <a:off x="4663440" y="3383280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F866572-1A94-683D-CC8D-DD6182E2489D}"/>
              </a:ext>
            </a:extLst>
          </p:cNvPr>
          <p:cNvSpPr/>
          <p:nvPr/>
        </p:nvSpPr>
        <p:spPr>
          <a:xfrm>
            <a:off x="46634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Acquire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1BFCCA1-A53F-D578-2E50-837B76372B8D}"/>
              </a:ext>
            </a:extLst>
          </p:cNvPr>
          <p:cNvSpPr/>
          <p:nvPr/>
        </p:nvSpPr>
        <p:spPr>
          <a:xfrm>
            <a:off x="4663440" y="3712464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C9C94C8-FC33-7BC6-E2A6-613288510320}"/>
              </a:ext>
            </a:extLst>
          </p:cNvPr>
          <p:cNvSpPr/>
          <p:nvPr/>
        </p:nvSpPr>
        <p:spPr>
          <a:xfrm>
            <a:off x="466344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Transform</a:t>
            </a:r>
            <a:endParaRPr lang="en-US" sz="11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C071456-A88D-2D0E-F070-75C9931926DF}"/>
              </a:ext>
            </a:extLst>
          </p:cNvPr>
          <p:cNvSpPr/>
          <p:nvPr/>
        </p:nvSpPr>
        <p:spPr>
          <a:xfrm>
            <a:off x="4663440" y="4041648"/>
            <a:ext cx="2926080" cy="274320"/>
          </a:xfrm>
          <a:prstGeom prst="rect">
            <a:avLst/>
          </a:prstGeom>
          <a:solidFill>
            <a:srgbClr val="0D1B2A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6F563F2-6130-AD11-9097-7DB95C3CC18A}"/>
              </a:ext>
            </a:extLst>
          </p:cNvPr>
          <p:cNvSpPr/>
          <p:nvPr/>
        </p:nvSpPr>
        <p:spPr>
          <a:xfrm>
            <a:off x="466344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</a:t>
            </a: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sz="9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Persist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618D011-43E7-DBD0-7DA3-A58CE9B7A524}"/>
              </a:ext>
            </a:extLst>
          </p:cNvPr>
          <p:cNvSpPr/>
          <p:nvPr/>
        </p:nvSpPr>
        <p:spPr>
          <a:xfrm>
            <a:off x="4663440" y="4370832"/>
            <a:ext cx="2926080" cy="274320"/>
          </a:xfrm>
          <a:prstGeom prst="rect">
            <a:avLst/>
          </a:prstGeom>
          <a:solidFill>
            <a:srgbClr val="F77F00"/>
          </a:solidFill>
          <a:ln w="95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08E0E92-CE1C-CA79-52B4-AC47B0DC0A0E}"/>
              </a:ext>
            </a:extLst>
          </p:cNvPr>
          <p:cNvSpPr/>
          <p:nvPr/>
        </p:nvSpPr>
        <p:spPr>
          <a:xfrm>
            <a:off x="466344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알람</a:t>
            </a:r>
            <a:r>
              <a:rPr lang="en-US" sz="900" i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Notify</a:t>
            </a:r>
            <a:endParaRPr lang="en-US" sz="11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118F0E4-E330-709F-9FB5-2B6BFE1AD372}"/>
              </a:ext>
            </a:extLst>
          </p:cNvPr>
          <p:cNvSpPr/>
          <p:nvPr/>
        </p:nvSpPr>
        <p:spPr>
          <a:xfrm>
            <a:off x="8321040" y="1874520"/>
            <a:ext cx="3383280" cy="292608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929A8EB-A4B0-4325-689A-F544D42DEF44}"/>
              </a:ext>
            </a:extLst>
          </p:cNvPr>
          <p:cNvSpPr/>
          <p:nvPr/>
        </p:nvSpPr>
        <p:spPr>
          <a:xfrm>
            <a:off x="8321040" y="1874520"/>
            <a:ext cx="3383280" cy="292608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FA0B308-15B3-56B0-BF86-6EAFB6C4D792}"/>
              </a:ext>
            </a:extLst>
          </p:cNvPr>
          <p:cNvSpPr/>
          <p:nvPr/>
        </p:nvSpPr>
        <p:spPr>
          <a:xfrm>
            <a:off x="832104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STORE  ·  Historian + Real-time</a:t>
            </a:r>
            <a:endParaRPr lang="en-US" sz="11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A7E7757-2CBB-E2E3-B748-60D16E724004}"/>
              </a:ext>
            </a:extLst>
          </p:cNvPr>
          <p:cNvSpPr/>
          <p:nvPr/>
        </p:nvSpPr>
        <p:spPr>
          <a:xfrm>
            <a:off x="8595360" y="2377440"/>
            <a:ext cx="2834640" cy="1078992"/>
          </a:xfrm>
          <a:prstGeom prst="rect">
            <a:avLst/>
          </a:prstGeom>
          <a:solidFill>
            <a:srgbClr val="0D1B2A"/>
          </a:solidFill>
          <a:ln w="15875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D6677C9-E8A4-DC0A-BE62-49FDD1324F0F}"/>
              </a:ext>
            </a:extLst>
          </p:cNvPr>
          <p:cNvSpPr/>
          <p:nvPr/>
        </p:nvSpPr>
        <p:spPr>
          <a:xfrm>
            <a:off x="859536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+ 마스터 + 이벤트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tables</a:t>
            </a:r>
            <a:endParaRPr lang="en-US" sz="2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99027D1-F2CB-CD79-B544-0445F480BDBE}"/>
              </a:ext>
            </a:extLst>
          </p:cNvPr>
          <p:cNvSpPr/>
          <p:nvPr/>
        </p:nvSpPr>
        <p:spPr>
          <a:xfrm>
            <a:off x="8595360" y="3593592"/>
            <a:ext cx="2834640" cy="1078992"/>
          </a:xfrm>
          <a:prstGeom prst="rect">
            <a:avLst/>
          </a:prstGeom>
          <a:solidFill>
            <a:srgbClr val="0D1B2A"/>
          </a:solidFill>
          <a:ln w="1587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0F094E0C-D3AF-2CD0-5EE7-61560A45BD00}"/>
              </a:ext>
            </a:extLst>
          </p:cNvPr>
          <p:cNvSpPr/>
          <p:nvPr/>
        </p:nvSpPr>
        <p:spPr>
          <a:xfrm>
            <a:off x="8595360" y="3639312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알람 버스</a:t>
            </a: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endParaRPr lang="en-US" sz="20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smartfactory/alarms</a:t>
            </a:r>
            <a:endParaRPr lang="en-US" sz="2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4B3F7F4-2D25-770A-B69E-71C86968B99D}"/>
              </a:ext>
            </a:extLst>
          </p:cNvPr>
          <p:cNvSpPr/>
          <p:nvPr/>
        </p:nvSpPr>
        <p:spPr>
          <a:xfrm>
            <a:off x="3977640" y="3337560"/>
            <a:ext cx="411480" cy="0"/>
          </a:xfrm>
          <a:prstGeom prst="line">
            <a:avLst/>
          </a:prstGeom>
          <a:noFill/>
          <a:ln w="31750">
            <a:solidFill>
              <a:srgbClr val="8DA0BD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49D0249-E5A9-E7EF-67AE-4817913AFB0B}"/>
              </a:ext>
            </a:extLst>
          </p:cNvPr>
          <p:cNvSpPr/>
          <p:nvPr/>
        </p:nvSpPr>
        <p:spPr>
          <a:xfrm>
            <a:off x="7863840" y="3337560"/>
            <a:ext cx="411480" cy="0"/>
          </a:xfrm>
          <a:prstGeom prst="line">
            <a:avLst/>
          </a:prstGeom>
          <a:noFill/>
          <a:ln w="31750">
            <a:solidFill>
              <a:srgbClr val="8DA0BD"/>
            </a:solidFill>
            <a:prstDash val="solid"/>
            <a:tailEnd type="triangle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8043B6AE-E69C-60ED-3F8D-4CD3478A3A1F}"/>
              </a:ext>
            </a:extLst>
          </p:cNvPr>
          <p:cNvSpPr/>
          <p:nvPr/>
        </p:nvSpPr>
        <p:spPr>
          <a:xfrm>
            <a:off x="548640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6E635E3-B89A-4063-F62B-69B6CEBBFCFB}"/>
              </a:ext>
            </a:extLst>
          </p:cNvPr>
          <p:cNvSpPr/>
          <p:nvPr/>
        </p:nvSpPr>
        <p:spPr>
          <a:xfrm>
            <a:off x="548640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4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1299A5CB-C0F5-ECD3-9FAD-9738DFCB3301}"/>
              </a:ext>
            </a:extLst>
          </p:cNvPr>
          <p:cNvSpPr/>
          <p:nvPr/>
        </p:nvSpPr>
        <p:spPr>
          <a:xfrm>
            <a:off x="548640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</a:t>
            </a:r>
            <a:endParaRPr lang="en-US" sz="11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6B9883F-5503-24DE-3B9E-E93CA67A1411}"/>
              </a:ext>
            </a:extLst>
          </p:cNvPr>
          <p:cNvSpPr/>
          <p:nvPr/>
        </p:nvSpPr>
        <p:spPr>
          <a:xfrm>
            <a:off x="548640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Modbus·OPC UA·MQTT·BMS</a:t>
            </a:r>
            <a:endParaRPr lang="en-US" sz="9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8584472-BB57-78E2-7D30-B389C5CD9F70}"/>
              </a:ext>
            </a:extLst>
          </p:cNvPr>
          <p:cNvSpPr/>
          <p:nvPr/>
        </p:nvSpPr>
        <p:spPr>
          <a:xfrm>
            <a:off x="3436544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330C840-A9A9-33FC-BF64-BA59A5A610B7}"/>
              </a:ext>
            </a:extLst>
          </p:cNvPr>
          <p:cNvSpPr/>
          <p:nvPr/>
        </p:nvSpPr>
        <p:spPr>
          <a:xfrm>
            <a:off x="3436544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54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8CDB1FF-E22C-C9CB-9196-21C2CCF33803}"/>
              </a:ext>
            </a:extLst>
          </p:cNvPr>
          <p:cNvSpPr/>
          <p:nvPr/>
        </p:nvSpPr>
        <p:spPr>
          <a:xfrm>
            <a:off x="3436544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</a:t>
            </a:r>
            <a:endParaRPr lang="en-US" sz="11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A6F80EAF-DF4C-FE84-5922-3DCBB9ACB6EC}"/>
              </a:ext>
            </a:extLst>
          </p:cNvPr>
          <p:cNvSpPr/>
          <p:nvPr/>
        </p:nvSpPr>
        <p:spPr>
          <a:xfrm>
            <a:off x="3436544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18 + 센서 18</a:t>
            </a:r>
            <a:endParaRPr lang="en-US" sz="9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66E6B2D7-80F6-289A-030B-1C9D758B300D}"/>
              </a:ext>
            </a:extLst>
          </p:cNvPr>
          <p:cNvSpPr/>
          <p:nvPr/>
        </p:nvSpPr>
        <p:spPr>
          <a:xfrm>
            <a:off x="6324448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6008130-9EC7-12A8-5AF2-E1A8419EC2A5}"/>
              </a:ext>
            </a:extLst>
          </p:cNvPr>
          <p:cNvSpPr/>
          <p:nvPr/>
        </p:nvSpPr>
        <p:spPr>
          <a:xfrm>
            <a:off x="6324448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</a:t>
            </a:r>
            <a:r>
              <a:rPr lang="en-US" sz="2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54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3544868-4C66-7718-1555-8B21AAF8103E}"/>
              </a:ext>
            </a:extLst>
          </p:cNvPr>
          <p:cNvSpPr/>
          <p:nvPr/>
        </p:nvSpPr>
        <p:spPr>
          <a:xfrm>
            <a:off x="6324448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태그</a:t>
            </a:r>
            <a:endParaRPr lang="en-US" sz="11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7AB7E49D-C25D-6266-9560-C0FB36E36635}"/>
              </a:ext>
            </a:extLst>
          </p:cNvPr>
          <p:cNvSpPr/>
          <p:nvPr/>
        </p:nvSpPr>
        <p:spPr>
          <a:xfrm>
            <a:off x="6324448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EQP + 93 ENV</a:t>
            </a:r>
            <a:endParaRPr lang="en-US" sz="9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6E2E410E-E6DD-48D9-1758-152F81B16935}"/>
              </a:ext>
            </a:extLst>
          </p:cNvPr>
          <p:cNvSpPr/>
          <p:nvPr/>
        </p:nvSpPr>
        <p:spPr>
          <a:xfrm>
            <a:off x="9212351" y="6080760"/>
            <a:ext cx="2430704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73F0884-7A43-6209-86DB-1CB7DC1458C1}"/>
              </a:ext>
            </a:extLst>
          </p:cNvPr>
          <p:cNvSpPr/>
          <p:nvPr/>
        </p:nvSpPr>
        <p:spPr>
          <a:xfrm>
            <a:off x="9212351" y="5166360"/>
            <a:ext cx="243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1·5·30</a:t>
            </a:r>
            <a:r>
              <a:rPr lang="en-US" sz="2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54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1F7C876-F84E-60CE-C915-6B809983C22C}"/>
              </a:ext>
            </a:extLst>
          </p:cNvPr>
          <p:cNvSpPr/>
          <p:nvPr/>
        </p:nvSpPr>
        <p:spPr>
          <a:xfrm>
            <a:off x="9212351" y="5760720"/>
            <a:ext cx="243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주기</a:t>
            </a:r>
            <a:endParaRPr lang="en-US" sz="11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1404CB1D-51DF-2237-0449-682F39CC6502}"/>
              </a:ext>
            </a:extLst>
          </p:cNvPr>
          <p:cNvSpPr/>
          <p:nvPr/>
        </p:nvSpPr>
        <p:spPr>
          <a:xfrm>
            <a:off x="9212351" y="5943600"/>
            <a:ext cx="243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 / slow / particle</a:t>
            </a:r>
            <a:endParaRPr lang="en-US" sz="9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085113B7-D521-93FD-4D23-1B830F15D909}"/>
              </a:ext>
            </a:extLst>
          </p:cNvPr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 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4개를 다룬 건 자랑이 아니라 </a:t>
            </a:r>
            <a:r>
              <a:rPr lang="en-US" sz="1300" b="1" i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현실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  ”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886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6675120"/>
            <a:ext cx="12191695" cy="4572"/>
          </a:xfrm>
          <a:prstGeom prst="rect">
            <a:avLst/>
          </a:prstGeom>
          <a:solidFill>
            <a:srgbClr val="3A4A65"/>
          </a:solidFill>
          <a:ln w="1270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Text 2"/>
          <p:cNvSpPr/>
          <p:nvPr/>
        </p:nvSpPr>
        <p:spPr>
          <a:xfrm>
            <a:off x="1133856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SCADA-DAS · 김완택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 NODE-RED PIPELINE  ·  4 STAGES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</a:t>
            </a:r>
            <a:r>
              <a:rPr lang="en-US" sz="36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</a:t>
            </a:r>
            <a:r>
              <a:rPr lang="en-US" sz="36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sz="36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3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kern="0" spc="8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protocols  →  single schema  →  dual-path alarm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533574" cy="274320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2122094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4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ACQUIRE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825496"/>
            <a:ext cx="365760" cy="22860"/>
          </a:xfrm>
          <a:prstGeom prst="rect">
            <a:avLst/>
          </a:prstGeom>
          <a:solidFill>
            <a:srgbClr val="8DA0B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Modbus Read × 36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OPC UA Fan-out 66 NodeID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MQTT `smartfactory/#` 구독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센서별 1 · 5 · 30s 주기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푸는 문제  </a:t>
            </a:r>
            <a:r>
              <a:rPr lang="en-US" sz="11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이질성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2254" y="1874520"/>
            <a:ext cx="2533574" cy="274320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/>
          <p:nvPr/>
        </p:nvSpPr>
        <p:spPr>
          <a:xfrm>
            <a:off x="4975708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4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630854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30854" y="2514600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30854" y="2825496"/>
            <a:ext cx="365760" cy="22860"/>
          </a:xfrm>
          <a:prstGeom prst="rect">
            <a:avLst/>
          </a:prstGeom>
          <a:solidFill>
            <a:srgbClr val="8DA0B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/>
          <p:nvPr/>
        </p:nvSpPr>
        <p:spPr>
          <a:xfrm>
            <a:off x="3630854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노드 88개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30854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Int16 → 실수 스케일 복원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0854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tag_code → param_id 매핑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30854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임계치 비교 (NORMAL/WARN/ALERT)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30854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8"/>
          <p:cNvSpPr/>
          <p:nvPr/>
        </p:nvSpPr>
        <p:spPr>
          <a:xfrm>
            <a:off x="3630854" y="4160520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푸는 문제  </a:t>
            </a:r>
            <a:r>
              <a:rPr lang="en-US" sz="11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단위 정규화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55868" y="1874520"/>
            <a:ext cx="2533574" cy="2743200"/>
          </a:xfrm>
          <a:prstGeom prst="rect">
            <a:avLst/>
          </a:prstGeom>
          <a:solidFill>
            <a:srgbClr val="1B263B"/>
          </a:solidFill>
          <a:ln w="9525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/>
          <p:nvPr/>
        </p:nvSpPr>
        <p:spPr>
          <a:xfrm>
            <a:off x="7829321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3A4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484468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84468" y="2514600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PERSIST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84468" y="2825496"/>
            <a:ext cx="365760" cy="22860"/>
          </a:xfrm>
          <a:prstGeom prst="rect">
            <a:avLst/>
          </a:prstGeom>
          <a:solidFill>
            <a:srgbClr val="8DA0B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/>
          <p:nvPr/>
        </p:nvSpPr>
        <p:spPr>
          <a:xfrm>
            <a:off x="6484468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마스터 (parameters)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84468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↕ 시계열 (measurements)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84468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분리된 Historian 모델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84468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row INSERT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84468" y="4160520"/>
            <a:ext cx="2076374" cy="292608"/>
          </a:xfrm>
          <a:prstGeom prst="rect">
            <a:avLst/>
          </a:prstGeom>
          <a:solidFill>
            <a:srgbClr val="0D1B2A"/>
          </a:solidFill>
          <a:ln w="6350">
            <a:solidFill>
              <a:srgbClr val="3A4A6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Text 39"/>
          <p:cNvSpPr/>
          <p:nvPr/>
        </p:nvSpPr>
        <p:spPr>
          <a:xfrm>
            <a:off x="6484468" y="4160520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푸는 문제  </a:t>
            </a:r>
            <a:r>
              <a:rPr lang="en-US" sz="1100" b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다운스트림 추상화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09481" y="1874520"/>
            <a:ext cx="2533574" cy="2743200"/>
          </a:xfrm>
          <a:prstGeom prst="rect">
            <a:avLst/>
          </a:prstGeom>
          <a:solidFill>
            <a:srgbClr val="2A3A55"/>
          </a:solidFill>
          <a:ln w="190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 41"/>
          <p:cNvSpPr/>
          <p:nvPr/>
        </p:nvSpPr>
        <p:spPr>
          <a:xfrm>
            <a:off x="10682935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9338081" y="2011680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338081" y="2514600"/>
            <a:ext cx="2076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NOTIFY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338081" y="2825496"/>
            <a:ext cx="365760" cy="22860"/>
          </a:xfrm>
          <a:prstGeom prst="rect">
            <a:avLst/>
          </a:prstGeom>
          <a:solidFill>
            <a:srgbClr val="F77F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Text 45"/>
          <p:cNvSpPr/>
          <p:nvPr/>
        </p:nvSpPr>
        <p:spPr>
          <a:xfrm>
            <a:off x="9338081" y="2926080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Edge-trigger 디듀플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38081" y="3218688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DB 경로 → alarms 테이블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38081" y="3511296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MQTT 경로 → 즉시 publish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38081" y="3803904"/>
            <a:ext cx="20763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</a:t>
            </a: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경로 동시 전파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338081" y="4160520"/>
            <a:ext cx="2076374" cy="292608"/>
          </a:xfrm>
          <a:prstGeom prst="rect">
            <a:avLst/>
          </a:prstGeom>
          <a:solidFill>
            <a:srgbClr val="F77F00"/>
          </a:solidFill>
          <a:ln w="63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50"/>
          <p:cNvSpPr/>
          <p:nvPr/>
        </p:nvSpPr>
        <p:spPr>
          <a:xfrm>
            <a:off x="9338081" y="4160520"/>
            <a:ext cx="20763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푸는 문제  </a:t>
            </a:r>
            <a:r>
              <a:rPr lang="en-US" sz="1100" b="1" dirty="0">
                <a:solidFill>
                  <a:srgbClr val="0D1B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실시간성 + 이력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029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CBF4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 PROBLEM  →  SOLUTION  →  STANDARD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5394960"/>
            <a:ext cx="73152" cy="73152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Text 53"/>
          <p:cNvSpPr/>
          <p:nvPr/>
        </p:nvSpPr>
        <p:spPr>
          <a:xfrm>
            <a:off x="713232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이질성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39312" y="5303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913632" y="53035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디코더 → 단일 스키마 정규화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040112" y="5303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ISA-95 L1~2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5687568"/>
            <a:ext cx="73152" cy="73152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0" name="Text 58"/>
          <p:cNvSpPr/>
          <p:nvPr/>
        </p:nvSpPr>
        <p:spPr>
          <a:xfrm>
            <a:off x="713232" y="5596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임계성 차이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39312" y="55961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913632" y="5596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센서별 폴링 주기 분리 + 레지스터 분리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040112" y="5596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정석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5980176"/>
            <a:ext cx="73152" cy="73152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5" name="Text 63"/>
          <p:cNvSpPr/>
          <p:nvPr/>
        </p:nvSpPr>
        <p:spPr>
          <a:xfrm>
            <a:off x="713232" y="5888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폭주 / 지연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639312" y="58887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0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913632" y="58887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디듀플 + DB(이력) · MQTT(실시간)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40112" y="5888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6D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ISA-18.2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 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DAS의 가치는 </a:t>
            </a:r>
            <a:r>
              <a:rPr lang="en-US" sz="1300" i="1" dirty="0">
                <a:solidFill>
                  <a:srgbClr val="5C6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4개를 다룬 것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아니라, </a:t>
            </a:r>
            <a:r>
              <a:rPr lang="en-US" sz="1300" b="1" i="1" dirty="0">
                <a:solidFill>
                  <a:srgbClr val="F77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잊을 수 있게 한 것</a:t>
            </a:r>
            <a:r>
              <a:rPr lang="en-US" sz="1300" i="1" dirty="0">
                <a:solidFill>
                  <a:srgbClr val="E8EC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  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806</Words>
  <Application>Microsoft Macintosh PowerPoint</Application>
  <PresentationFormat>와이드스크린</PresentationFormat>
  <Paragraphs>223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SCADA-DAS — Data Acquisition System</dc:title>
  <dc:subject>2-slide briefing</dc:subject>
  <dc:creator>w-taek</dc:creator>
  <cp:lastModifiedBy>완택 김</cp:lastModifiedBy>
  <cp:revision>4</cp:revision>
  <dcterms:created xsi:type="dcterms:W3CDTF">2026-05-18T08:46:51Z</dcterms:created>
  <dcterms:modified xsi:type="dcterms:W3CDTF">2026-05-18T09:58:28Z</dcterms:modified>
</cp:coreProperties>
</file>