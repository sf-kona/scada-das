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87" r:id="rId2"/>
    <p:sldId id="288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47"/>
    <p:restoredTop sz="94610"/>
  </p:normalViewPr>
  <p:slideViewPr>
    <p:cSldViewPr snapToGrid="0" snapToObjects="1">
      <p:cViewPr>
        <p:scale>
          <a:sx n="93" d="100"/>
          <a:sy n="93" d="100"/>
        </p:scale>
        <p:origin x="208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008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e2d7c9874b_3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" name="Google Shape;596;g3e2d7c9874b_3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e2d7c9874b_3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9" name="Google Shape;609;g3e2d7c9874b_3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2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e2d7c9874b_3_131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name="adj" fmla="val 23799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00" name="Google Shape;600;g3e2d7c9874b_3_131"/>
          <p:cNvGrpSpPr/>
          <p:nvPr/>
        </p:nvGrpSpPr>
        <p:grpSpPr>
          <a:xfrm>
            <a:off x="376102" y="333243"/>
            <a:ext cx="5948619" cy="831300"/>
            <a:chOff x="376102" y="333243"/>
            <a:chExt cx="5948619" cy="831300"/>
          </a:xfrm>
        </p:grpSpPr>
        <p:sp>
          <p:nvSpPr>
            <p:cNvPr id="601" name="Google Shape;601;g3e2d7c9874b_3_131"/>
            <p:cNvSpPr txBox="1"/>
            <p:nvPr/>
          </p:nvSpPr>
          <p:spPr>
            <a:xfrm>
              <a:off x="1461721" y="366114"/>
              <a:ext cx="225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2" name="Google Shape;602;g3e2d7c9874b_3_131"/>
            <p:cNvSpPr txBox="1"/>
            <p:nvPr/>
          </p:nvSpPr>
          <p:spPr>
            <a:xfrm>
              <a:off x="1461721" y="585057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</a:t>
              </a:r>
              <a:r>
                <a:rPr lang="ko-KR" sz="2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g3e2d7c9874b_3_131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1" i="0" u="none" strike="noStrike" cap="none">
                  <a:solidFill>
                    <a:srgbClr val="3378C8"/>
                  </a:solidFill>
                </a:rPr>
                <a:t>0</a:t>
              </a:r>
              <a:r>
                <a:rPr lang="ko-KR" sz="5400" b="1">
                  <a:solidFill>
                    <a:srgbClr val="3378C8"/>
                  </a:solidFill>
                </a:rPr>
                <a:t>3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4" name="Google Shape;604;g3e2d7c9874b_3_13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3e2d7c9874b_3_131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e2d7c9874b_3_131"/>
          <p:cNvSpPr txBox="1"/>
          <p:nvPr/>
        </p:nvSpPr>
        <p:spPr>
          <a:xfrm>
            <a:off x="1469531" y="95794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DAS</a:t>
            </a:r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9A191F-68EF-8CC6-DF99-3826884FC1A8}"/>
              </a:ext>
            </a:extLst>
          </p:cNvPr>
          <p:cNvSpPr/>
          <p:nvPr/>
        </p:nvSpPr>
        <p:spPr>
          <a:xfrm>
            <a:off x="418596" y="2169179"/>
            <a:ext cx="3498137" cy="171699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20434AAB-69B4-F049-F3DD-68FFE39D514E}"/>
              </a:ext>
            </a:extLst>
          </p:cNvPr>
          <p:cNvSpPr/>
          <p:nvPr/>
        </p:nvSpPr>
        <p:spPr>
          <a:xfrm>
            <a:off x="658676" y="2204718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altLang="ko-Kore-KR" sz="1100" b="1" dirty="0" err="1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산화</a:t>
            </a:r>
            <a:r>
              <a:rPr lang="en-US" altLang="ko-Kore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1100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FURN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95E1CD03-7D81-09EF-01E1-DF7482A978CB}"/>
              </a:ext>
            </a:extLst>
          </p:cNvPr>
          <p:cNvSpPr/>
          <p:nvPr/>
        </p:nvSpPr>
        <p:spPr>
          <a:xfrm>
            <a:off x="2625525" y="3055078"/>
            <a:ext cx="1016431" cy="182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9EFC77FB-3E72-B28C-6A3F-E9DEE4F1ACBD}"/>
              </a:ext>
            </a:extLst>
          </p:cNvPr>
          <p:cNvSpPr/>
          <p:nvPr/>
        </p:nvSpPr>
        <p:spPr>
          <a:xfrm>
            <a:off x="658676" y="2483610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altLang="ko-Kore-KR" sz="1100" b="1" dirty="0" err="1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박막</a:t>
            </a:r>
            <a:r>
              <a:rPr lang="en-US" altLang="ko-Kore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1100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89CC3CF0-3B1E-F194-E0B0-6D07DF45F517}"/>
              </a:ext>
            </a:extLst>
          </p:cNvPr>
          <p:cNvSpPr/>
          <p:nvPr/>
        </p:nvSpPr>
        <p:spPr>
          <a:xfrm>
            <a:off x="2625525" y="2232150"/>
            <a:ext cx="1016431" cy="182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Modbus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64A66C9D-F377-BF44-B4C2-DA29CA7D3F6C}"/>
              </a:ext>
            </a:extLst>
          </p:cNvPr>
          <p:cNvSpPr/>
          <p:nvPr/>
        </p:nvSpPr>
        <p:spPr>
          <a:xfrm>
            <a:off x="658676" y="2753358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altLang="ko-Kore-KR" sz="1100" b="1" dirty="0" err="1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식각</a:t>
            </a:r>
            <a:r>
              <a:rPr lang="en-US" altLang="ko-Kore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1100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ETCH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EF7C7DCB-9D66-212E-CE72-62375B1BB438}"/>
              </a:ext>
            </a:extLst>
          </p:cNvPr>
          <p:cNvSpPr/>
          <p:nvPr/>
        </p:nvSpPr>
        <p:spPr>
          <a:xfrm>
            <a:off x="2625525" y="2780790"/>
            <a:ext cx="1016431" cy="182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OPC UA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9BFF886D-0A1E-34B4-0636-C97515F10E27}"/>
              </a:ext>
            </a:extLst>
          </p:cNvPr>
          <p:cNvSpPr/>
          <p:nvPr/>
        </p:nvSpPr>
        <p:spPr>
          <a:xfrm>
            <a:off x="658676" y="3027678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altLang="ko-Kore-KR" sz="1100" b="1" dirty="0" err="1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포토</a:t>
            </a:r>
            <a:r>
              <a:rPr lang="en-US" altLang="ko-Kore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1100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BC6F285C-6EA6-FD97-E0A2-AB0EC20584DC}"/>
              </a:ext>
            </a:extLst>
          </p:cNvPr>
          <p:cNvSpPr/>
          <p:nvPr/>
        </p:nvSpPr>
        <p:spPr>
          <a:xfrm>
            <a:off x="2625525" y="2511042"/>
            <a:ext cx="1016431" cy="182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OPC UA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 22">
            <a:extLst>
              <a:ext uri="{FF2B5EF4-FFF2-40B4-BE49-F238E27FC236}">
                <a16:creationId xmlns:a16="http://schemas.microsoft.com/office/drawing/2014/main" id="{BF781930-CC01-722D-4A3D-2AB4BD503449}"/>
              </a:ext>
            </a:extLst>
          </p:cNvPr>
          <p:cNvSpPr/>
          <p:nvPr/>
        </p:nvSpPr>
        <p:spPr>
          <a:xfrm>
            <a:off x="658676" y="3301998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배선 </a:t>
            </a:r>
            <a:r>
              <a:rPr lang="en-US" sz="1100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SPTT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222B86EF-140C-3FD0-2781-F2089F4DD10A}"/>
              </a:ext>
            </a:extLst>
          </p:cNvPr>
          <p:cNvSpPr/>
          <p:nvPr/>
        </p:nvSpPr>
        <p:spPr>
          <a:xfrm>
            <a:off x="658676" y="3576318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검사 </a:t>
            </a:r>
            <a:r>
              <a:rPr lang="en-US" sz="1100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PROBE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B4FDCF0-81B6-AEF2-7C88-9C20E5032732}"/>
              </a:ext>
            </a:extLst>
          </p:cNvPr>
          <p:cNvSpPr/>
          <p:nvPr/>
        </p:nvSpPr>
        <p:spPr>
          <a:xfrm>
            <a:off x="2625525" y="3329430"/>
            <a:ext cx="1016431" cy="182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BC05E72-B1BF-3584-C0F4-BC201ED910C2}"/>
              </a:ext>
            </a:extLst>
          </p:cNvPr>
          <p:cNvSpPr/>
          <p:nvPr/>
        </p:nvSpPr>
        <p:spPr>
          <a:xfrm>
            <a:off x="2625525" y="3603750"/>
            <a:ext cx="1016431" cy="182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E43F80-57F0-1A00-4F83-BAB3D2DB85D3}"/>
              </a:ext>
            </a:extLst>
          </p:cNvPr>
          <p:cNvSpPr/>
          <p:nvPr/>
        </p:nvSpPr>
        <p:spPr>
          <a:xfrm>
            <a:off x="418596" y="1842280"/>
            <a:ext cx="3498137" cy="32814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600" dirty="0">
                <a:solidFill>
                  <a:sysClr val="windowText" lastClr="000000"/>
                </a:solidFill>
              </a:rPr>
              <a:t>공정</a:t>
            </a:r>
            <a:r>
              <a:rPr kumimoji="1" lang="ko-KR" altLang="en-US" sz="1600" dirty="0">
                <a:solidFill>
                  <a:sysClr val="windowText" lastClr="000000"/>
                </a:solidFill>
              </a:rPr>
              <a:t> 설비 통신 프로토콜</a:t>
            </a:r>
            <a:endParaRPr kumimoji="1" lang="ko-Kore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0401B6-88F3-E2EF-AAAE-6273CAD5C5B7}"/>
              </a:ext>
            </a:extLst>
          </p:cNvPr>
          <p:cNvSpPr/>
          <p:nvPr/>
        </p:nvSpPr>
        <p:spPr>
          <a:xfrm>
            <a:off x="418596" y="4282807"/>
            <a:ext cx="3498137" cy="3281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ore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E15E8D3-C93B-9C1F-29D3-2113EE89562D}"/>
              </a:ext>
            </a:extLst>
          </p:cNvPr>
          <p:cNvSpPr/>
          <p:nvPr/>
        </p:nvSpPr>
        <p:spPr>
          <a:xfrm>
            <a:off x="418596" y="3955908"/>
            <a:ext cx="3498137" cy="32814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ysClr val="windowText" lastClr="000000"/>
                </a:solidFill>
              </a:rPr>
              <a:t>환경 </a:t>
            </a:r>
            <a:r>
              <a:rPr kumimoji="1" lang="en-US" altLang="ko-KR" sz="1600" dirty="0">
                <a:solidFill>
                  <a:sysClr val="windowText" lastClr="000000"/>
                </a:solidFill>
              </a:rPr>
              <a:t>BMS</a:t>
            </a:r>
            <a:endParaRPr kumimoji="1" lang="ko-Kore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EE4A032-672D-7644-3AED-2D6531EC42E9}"/>
              </a:ext>
            </a:extLst>
          </p:cNvPr>
          <p:cNvSpPr/>
          <p:nvPr/>
        </p:nvSpPr>
        <p:spPr>
          <a:xfrm>
            <a:off x="2625525" y="4353788"/>
            <a:ext cx="1016431" cy="182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Modbus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5568349-775E-2B00-BA2A-04BE46CEAF85}"/>
              </a:ext>
            </a:extLst>
          </p:cNvPr>
          <p:cNvSpPr/>
          <p:nvPr/>
        </p:nvSpPr>
        <p:spPr>
          <a:xfrm>
            <a:off x="4346933" y="2169179"/>
            <a:ext cx="3498137" cy="23674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2A26F19-96F8-053F-AC18-7434B8273931}"/>
              </a:ext>
            </a:extLst>
          </p:cNvPr>
          <p:cNvSpPr/>
          <p:nvPr/>
        </p:nvSpPr>
        <p:spPr>
          <a:xfrm>
            <a:off x="4346933" y="1842280"/>
            <a:ext cx="3498137" cy="3281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600" dirty="0">
                <a:solidFill>
                  <a:sysClr val="windowText" lastClr="000000"/>
                </a:solidFill>
              </a:rPr>
              <a:t>수집</a:t>
            </a:r>
            <a:r>
              <a:rPr kumimoji="1" lang="ko-KR" altLang="en-US" sz="1600" dirty="0">
                <a:solidFill>
                  <a:sysClr val="windowText" lastClr="000000"/>
                </a:solidFill>
              </a:rPr>
              <a:t> 및 가공</a:t>
            </a:r>
            <a:endParaRPr kumimoji="1" lang="ko-Kore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AA092FEC-BCF9-B439-39D5-B9CF62A8DB6A}"/>
              </a:ext>
            </a:extLst>
          </p:cNvPr>
          <p:cNvSpPr/>
          <p:nvPr/>
        </p:nvSpPr>
        <p:spPr>
          <a:xfrm>
            <a:off x="4681904" y="2928041"/>
            <a:ext cx="28281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</a:t>
            </a:r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F11E5CB3-8E43-2C54-8FD5-5AF67AB8E1A4}"/>
              </a:ext>
            </a:extLst>
          </p:cNvPr>
          <p:cNvSpPr/>
          <p:nvPr/>
        </p:nvSpPr>
        <p:spPr>
          <a:xfrm>
            <a:off x="4681904" y="3306538"/>
            <a:ext cx="28281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가공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337EB7C9-5C0F-C34A-B4A1-1617D39C1407}"/>
              </a:ext>
            </a:extLst>
          </p:cNvPr>
          <p:cNvSpPr/>
          <p:nvPr/>
        </p:nvSpPr>
        <p:spPr>
          <a:xfrm>
            <a:off x="4681904" y="3685035"/>
            <a:ext cx="2828195" cy="237744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저장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ED123524-FC4F-9829-6202-2618BFD7DC84}"/>
              </a:ext>
            </a:extLst>
          </p:cNvPr>
          <p:cNvSpPr/>
          <p:nvPr/>
        </p:nvSpPr>
        <p:spPr>
          <a:xfrm>
            <a:off x="4681904" y="4063532"/>
            <a:ext cx="2828195" cy="2377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알람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D0D3351-98A4-315F-5E40-C777D682C3C2}"/>
              </a:ext>
            </a:extLst>
          </p:cNvPr>
          <p:cNvSpPr/>
          <p:nvPr/>
        </p:nvSpPr>
        <p:spPr>
          <a:xfrm>
            <a:off x="8275269" y="2167930"/>
            <a:ext cx="3498137" cy="23674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6578D41-600A-1552-2D55-3839E9EE27FA}"/>
              </a:ext>
            </a:extLst>
          </p:cNvPr>
          <p:cNvSpPr/>
          <p:nvPr/>
        </p:nvSpPr>
        <p:spPr>
          <a:xfrm>
            <a:off x="8275269" y="1841031"/>
            <a:ext cx="3498137" cy="3281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ysClr val="windowText" lastClr="000000"/>
                </a:solidFill>
              </a:rPr>
              <a:t>실시간 이력 관리</a:t>
            </a:r>
            <a:endParaRPr kumimoji="1" lang="ko-Kore-KR" altLang="en-US" sz="1600" dirty="0">
              <a:solidFill>
                <a:sysClr val="windowText" lastClr="000000"/>
              </a:solidFill>
            </a:endParaRPr>
          </a:p>
        </p:txBody>
      </p:sp>
      <p:pic>
        <p:nvPicPr>
          <p:cNvPr id="1026" name="Picture 2" descr="Introduction to Node-Red. Node-Red is a low-code, flow… | by Caglar Cavdar  | Medium">
            <a:extLst>
              <a:ext uri="{FF2B5EF4-FFF2-40B4-BE49-F238E27FC236}">
                <a16:creationId xmlns:a16="http://schemas.microsoft.com/office/drawing/2014/main" id="{D6B161D6-5E7D-2FA2-BEC6-E77B03C12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33" y="2343841"/>
            <a:ext cx="1319936" cy="44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 10">
            <a:extLst>
              <a:ext uri="{FF2B5EF4-FFF2-40B4-BE49-F238E27FC236}">
                <a16:creationId xmlns:a16="http://schemas.microsoft.com/office/drawing/2014/main" id="{BD92A74A-4CB8-3434-50F6-640068D1F08E}"/>
              </a:ext>
            </a:extLst>
          </p:cNvPr>
          <p:cNvSpPr/>
          <p:nvPr/>
        </p:nvSpPr>
        <p:spPr>
          <a:xfrm>
            <a:off x="8610240" y="2294908"/>
            <a:ext cx="2828195" cy="999801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9B679B42-21CC-2491-A081-C373148B8DAA}"/>
              </a:ext>
            </a:extLst>
          </p:cNvPr>
          <p:cNvSpPr/>
          <p:nvPr/>
        </p:nvSpPr>
        <p:spPr>
          <a:xfrm>
            <a:off x="8610240" y="3415163"/>
            <a:ext cx="2828195" cy="999801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</a:rPr>
              <a:t>MQTT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589F74C-66EF-95B7-8F70-E8B611D9788A}"/>
              </a:ext>
            </a:extLst>
          </p:cNvPr>
          <p:cNvSpPr/>
          <p:nvPr/>
        </p:nvSpPr>
        <p:spPr>
          <a:xfrm>
            <a:off x="418595" y="1533861"/>
            <a:ext cx="3498137" cy="2420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b="1" spc="600" dirty="0">
                <a:solidFill>
                  <a:schemeClr val="bg1"/>
                </a:solidFill>
              </a:rPr>
              <a:t>FIELD</a:t>
            </a:r>
            <a:endParaRPr kumimoji="1" lang="ko-Kore-KR" altLang="en-US" b="1" spc="600" dirty="0">
              <a:solidFill>
                <a:schemeClr val="bg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ABDBAA6-1170-A9F2-5943-EB6EA2EC03DE}"/>
              </a:ext>
            </a:extLst>
          </p:cNvPr>
          <p:cNvSpPr/>
          <p:nvPr/>
        </p:nvSpPr>
        <p:spPr>
          <a:xfrm>
            <a:off x="4346933" y="1540797"/>
            <a:ext cx="3498137" cy="2420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b="1" spc="600" dirty="0">
                <a:solidFill>
                  <a:schemeClr val="bg1"/>
                </a:solidFill>
              </a:rPr>
              <a:t>GATEWAY</a:t>
            </a:r>
            <a:endParaRPr kumimoji="1" lang="ko-Kore-KR" altLang="en-US" b="1" spc="600" dirty="0">
              <a:solidFill>
                <a:schemeClr val="bg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ADBD444-A783-8E95-DE30-2A132827ED95}"/>
              </a:ext>
            </a:extLst>
          </p:cNvPr>
          <p:cNvSpPr/>
          <p:nvPr/>
        </p:nvSpPr>
        <p:spPr>
          <a:xfrm>
            <a:off x="8275269" y="1537742"/>
            <a:ext cx="3498137" cy="242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b="1" spc="600" dirty="0">
                <a:solidFill>
                  <a:schemeClr val="bg1"/>
                </a:solidFill>
              </a:rPr>
              <a:t>STORE</a:t>
            </a:r>
            <a:endParaRPr kumimoji="1" lang="ko-Kore-KR" altLang="en-US" b="1" spc="600" dirty="0">
              <a:solidFill>
                <a:schemeClr val="bg1"/>
              </a:solidFill>
            </a:endParaRPr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CE047E89-FAA5-7EED-28CB-8A77AD9A6B11}"/>
              </a:ext>
            </a:extLst>
          </p:cNvPr>
          <p:cNvSpPr/>
          <p:nvPr/>
        </p:nvSpPr>
        <p:spPr>
          <a:xfrm>
            <a:off x="658676" y="4326356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kumimoji="1" lang="ko-KR" altLang="en-US" sz="1100" b="1" dirty="0"/>
              <a:t> </a:t>
            </a:r>
            <a:r>
              <a:rPr kumimoji="1" lang="en-US" altLang="ko-Kore-KR" sz="1100" b="1" dirty="0"/>
              <a:t>1</a:t>
            </a:r>
            <a:r>
              <a:rPr kumimoji="1" lang="en-US" altLang="ko-KR" sz="1100" b="1" dirty="0"/>
              <a:t>8</a:t>
            </a:r>
            <a:r>
              <a:rPr kumimoji="1" lang="ko-KR" altLang="en-US" sz="1100" b="1" dirty="0"/>
              <a:t>개 센서</a:t>
            </a:r>
            <a:endParaRPr kumimoji="1" lang="ko-Kore-KR" altLang="en-US" sz="1100" b="1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2FB8A66-0EFE-DEEE-6E09-E78FCD165D39}"/>
              </a:ext>
            </a:extLst>
          </p:cNvPr>
          <p:cNvSpPr/>
          <p:nvPr/>
        </p:nvSpPr>
        <p:spPr>
          <a:xfrm>
            <a:off x="418595" y="4773780"/>
            <a:ext cx="3498137" cy="19013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ko-Kore-KR" sz="1200" dirty="0">
                <a:solidFill>
                  <a:schemeClr val="tx1"/>
                </a:solidFill>
              </a:rPr>
              <a:t>18 설비</a:t>
            </a:r>
            <a:r>
              <a:rPr lang="en-US" altLang="ko-Kore-KR" sz="1200" dirty="0">
                <a:solidFill>
                  <a:schemeClr val="tx1"/>
                </a:solidFill>
              </a:rPr>
              <a:t>(</a:t>
            </a:r>
            <a:r>
              <a:rPr lang="ko-Kore-KR" altLang="ko-Kore-KR" sz="1200" dirty="0">
                <a:solidFill>
                  <a:schemeClr val="tx1"/>
                </a:solidFill>
              </a:rPr>
              <a:t>6공정 × 3대 </a:t>
            </a:r>
            <a:r>
              <a:rPr lang="en-US" altLang="ko-Kore-KR" sz="1200" dirty="0">
                <a:solidFill>
                  <a:schemeClr val="tx1"/>
                </a:solidFill>
              </a:rPr>
              <a:t>)</a:t>
            </a:r>
            <a:r>
              <a:rPr lang="ko-Kore-KR" altLang="ko-Kore-KR" sz="1200" dirty="0">
                <a:solidFill>
                  <a:schemeClr val="tx1"/>
                </a:solidFill>
              </a:rPr>
              <a:t> + 환경 18 센서 </a:t>
            </a:r>
            <a:br>
              <a:rPr lang="en-US" altLang="ko-Kore-KR" sz="1200" dirty="0">
                <a:solidFill>
                  <a:schemeClr val="tx1"/>
                </a:solidFill>
              </a:rPr>
            </a:br>
            <a:r>
              <a:rPr lang="ko-Kore-KR" altLang="ko-Kore-KR" sz="1200" dirty="0">
                <a:solidFill>
                  <a:schemeClr val="tx1"/>
                </a:solidFill>
              </a:rPr>
              <a:t>→ </a:t>
            </a:r>
            <a:r>
              <a:rPr lang="ko-Kore-KR" altLang="ko-Kore-KR" sz="1200" b="1" dirty="0">
                <a:solidFill>
                  <a:schemeClr val="tx1"/>
                </a:solidFill>
              </a:rPr>
              <a:t>약 270 태그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ko-Kore-KR" sz="1200" dirty="0">
                <a:solidFill>
                  <a:schemeClr val="tx1"/>
                </a:solidFill>
              </a:rPr>
              <a:t>설비마다 </a:t>
            </a:r>
            <a:r>
              <a:rPr lang="ko-Kore-KR" altLang="en-US" sz="1200" dirty="0">
                <a:solidFill>
                  <a:schemeClr val="tx1"/>
                </a:solidFill>
              </a:rPr>
              <a:t>다른</a:t>
            </a:r>
            <a:r>
              <a:rPr lang="ko-KR" altLang="en-US" sz="1200" dirty="0">
                <a:solidFill>
                  <a:schemeClr val="tx1"/>
                </a:solidFill>
              </a:rPr>
              <a:t> 통신 프로토콜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ore-KR" altLang="ko-Kore-KR" sz="1200" dirty="0">
                <a:solidFill>
                  <a:schemeClr val="tx1"/>
                </a:solidFill>
              </a:rPr>
              <a:t>→ </a:t>
            </a:r>
            <a:r>
              <a:rPr lang="ko-Kore-KR" altLang="ko-Kore-KR" sz="1200" b="1" dirty="0">
                <a:solidFill>
                  <a:schemeClr val="tx1"/>
                </a:solidFill>
              </a:rPr>
              <a:t>Modbus / OPC UA / MQTT</a:t>
            </a:r>
            <a:endParaRPr lang="ko-Kore-KR" altLang="ko-Kore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ko-Kore-KR" sz="1200" dirty="0">
                <a:solidFill>
                  <a:schemeClr val="tx1"/>
                </a:solidFill>
              </a:rPr>
              <a:t>환경 BMS 보안상 별도 OT 세그먼트</a:t>
            </a:r>
            <a:endParaRPr lang="en-US" altLang="ko-Kore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ko-Kore-KR" sz="1600" b="1" dirty="0">
                <a:solidFill>
                  <a:schemeClr val="tx1"/>
                </a:solidFill>
              </a:rPr>
              <a:t>Python 시뮬레이터</a:t>
            </a:r>
            <a:r>
              <a:rPr lang="ko-Kore-KR" altLang="en-US" sz="1600" b="1" dirty="0">
                <a:solidFill>
                  <a:schemeClr val="tx1"/>
                </a:solidFill>
              </a:rPr>
              <a:t> 구동</a:t>
            </a:r>
            <a:endParaRPr lang="ko-Kore-KR" altLang="ko-Kore-KR" sz="1600" b="1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B6BCFCD-D590-FD61-EB70-3D21C4779C56}"/>
              </a:ext>
            </a:extLst>
          </p:cNvPr>
          <p:cNvSpPr/>
          <p:nvPr/>
        </p:nvSpPr>
        <p:spPr>
          <a:xfrm>
            <a:off x="4372674" y="4773780"/>
            <a:ext cx="3498137" cy="19013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수집 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en-US" altLang="ko-Kore-KR" sz="1200" dirty="0">
                <a:solidFill>
                  <a:schemeClr val="tx1"/>
                </a:solidFill>
              </a:rPr>
              <a:t>Modbus / OPC UA / MQTT </a:t>
            </a:r>
            <a:br>
              <a:rPr lang="en-US" altLang="ko-Kore-KR" sz="1200" dirty="0">
                <a:solidFill>
                  <a:schemeClr val="tx1"/>
                </a:solidFill>
              </a:rPr>
            </a:br>
            <a:r>
              <a:rPr lang="ko-Kore-KR" altLang="ko-Kore-KR" sz="1200" dirty="0">
                <a:solidFill>
                  <a:schemeClr val="tx1"/>
                </a:solidFill>
              </a:rPr>
              <a:t>→ </a:t>
            </a:r>
            <a:r>
              <a:rPr lang="en-US" altLang="ko-Kore-KR" sz="1200" b="1" dirty="0">
                <a:solidFill>
                  <a:schemeClr val="tx1"/>
                </a:solidFill>
              </a:rPr>
              <a:t>1·5·30s </a:t>
            </a:r>
            <a:r>
              <a:rPr lang="ko-KR" altLang="en-US" sz="1200" b="1" dirty="0">
                <a:solidFill>
                  <a:schemeClr val="tx1"/>
                </a:solidFill>
              </a:rPr>
              <a:t>다중 주기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가공 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디코딩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en-US" altLang="ko-Kore-KR" sz="1200" dirty="0">
                <a:solidFill>
                  <a:schemeClr val="tx1"/>
                </a:solidFill>
              </a:rPr>
              <a:t>Int16 </a:t>
            </a:r>
            <a:r>
              <a:rPr lang="ko-KR" altLang="en-US" sz="1200" dirty="0">
                <a:solidFill>
                  <a:schemeClr val="tx1"/>
                </a:solidFill>
              </a:rPr>
              <a:t>스케일 복원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en-US" altLang="ko-Kore-KR" sz="1200" dirty="0" err="1">
                <a:solidFill>
                  <a:schemeClr val="tx1"/>
                </a:solidFill>
              </a:rPr>
              <a:t>tag_code</a:t>
            </a:r>
            <a:r>
              <a:rPr lang="en-US" altLang="ko-Kore-KR" sz="1200" dirty="0">
                <a:solidFill>
                  <a:schemeClr val="tx1"/>
                </a:solidFill>
              </a:rPr>
              <a:t> → </a:t>
            </a:r>
            <a:r>
              <a:rPr lang="en-US" altLang="ko-Kore-KR" sz="1200" dirty="0" err="1">
                <a:solidFill>
                  <a:schemeClr val="tx1"/>
                </a:solidFill>
              </a:rPr>
              <a:t>param_id</a:t>
            </a:r>
            <a:r>
              <a:rPr lang="en-US" altLang="ko-Kore-KR" sz="1200" dirty="0">
                <a:solidFill>
                  <a:schemeClr val="tx1"/>
                </a:solidFill>
              </a:rPr>
              <a:t> </a:t>
            </a:r>
            <a:r>
              <a:rPr lang="ko-KR" altLang="en-US" sz="1200" b="1" dirty="0">
                <a:solidFill>
                  <a:schemeClr val="tx1"/>
                </a:solidFill>
              </a:rPr>
              <a:t>매핑 </a:t>
            </a:r>
            <a:r>
              <a:rPr lang="en-US" altLang="ko-KR" sz="1200" b="1" dirty="0">
                <a:solidFill>
                  <a:schemeClr val="tx1"/>
                </a:solidFill>
              </a:rPr>
              <a:t>· </a:t>
            </a:r>
            <a:r>
              <a:rPr lang="ko-KR" altLang="en-US" sz="1200" b="1" dirty="0">
                <a:solidFill>
                  <a:schemeClr val="tx1"/>
                </a:solidFill>
              </a:rPr>
              <a:t>임계치 비교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저장 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시계열 데이터 저장 </a:t>
            </a:r>
            <a:r>
              <a:rPr lang="en-US" altLang="ko-KR" sz="1200" dirty="0">
                <a:solidFill>
                  <a:schemeClr val="tx1"/>
                </a:solidFill>
              </a:rPr>
              <a:t>(MySQL)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알람 </a:t>
            </a:r>
            <a:r>
              <a:rPr lang="en-US" altLang="ko-KR" sz="1200" dirty="0">
                <a:solidFill>
                  <a:schemeClr val="tx1"/>
                </a:solidFill>
              </a:rPr>
              <a:t>: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ore-KR" sz="1200" b="1" dirty="0">
                <a:solidFill>
                  <a:schemeClr val="tx1"/>
                </a:solidFill>
              </a:rPr>
              <a:t>DB(</a:t>
            </a:r>
            <a:r>
              <a:rPr lang="ko-KR" altLang="en-US" sz="1200" b="1" dirty="0">
                <a:solidFill>
                  <a:schemeClr val="tx1"/>
                </a:solidFill>
              </a:rPr>
              <a:t>이력</a:t>
            </a:r>
            <a:r>
              <a:rPr lang="en-US" altLang="ko-KR" sz="1200" b="1" dirty="0">
                <a:solidFill>
                  <a:schemeClr val="tx1"/>
                </a:solidFill>
              </a:rPr>
              <a:t>) + </a:t>
            </a:r>
            <a:r>
              <a:rPr lang="en-US" altLang="ko-Kore-KR" sz="1200" b="1" dirty="0">
                <a:solidFill>
                  <a:schemeClr val="tx1"/>
                </a:solidFill>
              </a:rPr>
              <a:t>MQTT(</a:t>
            </a:r>
            <a:r>
              <a:rPr lang="ko-KR" altLang="en-US" sz="1200" b="1" dirty="0">
                <a:solidFill>
                  <a:schemeClr val="tx1"/>
                </a:solidFill>
              </a:rPr>
              <a:t>실시간</a:t>
            </a:r>
            <a:r>
              <a:rPr lang="en-US" altLang="ko-KR" sz="1200" b="1" dirty="0">
                <a:solidFill>
                  <a:schemeClr val="tx1"/>
                </a:solidFill>
              </a:rPr>
              <a:t>) </a:t>
            </a:r>
            <a:r>
              <a:rPr lang="ko-KR" altLang="en-US" sz="1200" b="1" dirty="0">
                <a:solidFill>
                  <a:schemeClr val="tx1"/>
                </a:solidFill>
              </a:rPr>
              <a:t>이중 경로</a:t>
            </a:r>
          </a:p>
        </p:txBody>
      </p:sp>
      <p:pic>
        <p:nvPicPr>
          <p:cNvPr id="576" name="그림 575">
            <a:extLst>
              <a:ext uri="{FF2B5EF4-FFF2-40B4-BE49-F238E27FC236}">
                <a16:creationId xmlns:a16="http://schemas.microsoft.com/office/drawing/2014/main" id="{1AD57085-AB78-E486-35EB-916A6280D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566" y="4950359"/>
            <a:ext cx="3889542" cy="15481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g3e2d7c9874b_3_1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g3e2d7c9874b_3_150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name="adj" fmla="val 23799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13" name="Google Shape;613;g3e2d7c9874b_3_150"/>
          <p:cNvGrpSpPr/>
          <p:nvPr/>
        </p:nvGrpSpPr>
        <p:grpSpPr>
          <a:xfrm>
            <a:off x="376102" y="333243"/>
            <a:ext cx="5948619" cy="831300"/>
            <a:chOff x="376102" y="333243"/>
            <a:chExt cx="5948619" cy="831300"/>
          </a:xfrm>
        </p:grpSpPr>
        <p:sp>
          <p:nvSpPr>
            <p:cNvPr id="614" name="Google Shape;614;g3e2d7c9874b_3_150"/>
            <p:cNvSpPr txBox="1"/>
            <p:nvPr/>
          </p:nvSpPr>
          <p:spPr>
            <a:xfrm>
              <a:off x="1461721" y="366114"/>
              <a:ext cx="225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5" name="Google Shape;615;g3e2d7c9874b_3_150"/>
            <p:cNvSpPr txBox="1"/>
            <p:nvPr/>
          </p:nvSpPr>
          <p:spPr>
            <a:xfrm>
              <a:off x="1461721" y="585057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sz="2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과정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3e2d7c9874b_3_150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1" i="0" u="none" strike="noStrike" cap="none">
                  <a:solidFill>
                    <a:srgbClr val="3378C8"/>
                  </a:solidFill>
                </a:rPr>
                <a:t>0</a:t>
              </a:r>
              <a:r>
                <a:rPr lang="ko-KR" sz="5400" b="1">
                  <a:solidFill>
                    <a:srgbClr val="3378C8"/>
                  </a:solidFill>
                </a:rPr>
                <a:t>3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7" name="Google Shape;617;g3e2d7c9874b_3_15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e2d7c9874b_3_150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e2d7c9874b_3_150"/>
          <p:cNvSpPr txBox="1"/>
          <p:nvPr/>
        </p:nvSpPr>
        <p:spPr>
          <a:xfrm>
            <a:off x="1469531" y="95794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DAS</a:t>
            </a:r>
            <a:endParaRPr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A3BF6D66-063B-2C6E-4193-9F1B9CD9C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873" y="1476512"/>
            <a:ext cx="9539990" cy="51967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164</Words>
  <Application>Microsoft Macintosh PowerPoint</Application>
  <PresentationFormat>와이드스크린</PresentationFormat>
  <Paragraphs>43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Malgun Gothic</vt:lpstr>
      <vt:lpstr>Malgun Gothic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SCADA-DAS — Data Acquisition System</dc:title>
  <dc:subject>2-slide briefing</dc:subject>
  <dc:creator>w-taek</dc:creator>
  <cp:lastModifiedBy>완택 김</cp:lastModifiedBy>
  <cp:revision>5</cp:revision>
  <dcterms:created xsi:type="dcterms:W3CDTF">2026-05-18T08:46:51Z</dcterms:created>
  <dcterms:modified xsi:type="dcterms:W3CDTF">2026-05-18T10:05:01Z</dcterms:modified>
</cp:coreProperties>
</file>